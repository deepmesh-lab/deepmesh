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447" r:id="rId2"/>
    <p:sldId id="448" r:id="rId3"/>
    <p:sldId id="486" r:id="rId4"/>
    <p:sldId id="487" r:id="rId5"/>
    <p:sldId id="470" r:id="rId6"/>
    <p:sldId id="462" r:id="rId7"/>
    <p:sldId id="451" r:id="rId8"/>
    <p:sldId id="474" r:id="rId9"/>
    <p:sldId id="475" r:id="rId10"/>
    <p:sldId id="476" r:id="rId11"/>
    <p:sldId id="477" r:id="rId12"/>
    <p:sldId id="478" r:id="rId13"/>
    <p:sldId id="479" r:id="rId14"/>
    <p:sldId id="454" r:id="rId15"/>
    <p:sldId id="480" r:id="rId16"/>
    <p:sldId id="455" r:id="rId17"/>
    <p:sldId id="45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DEEE9"/>
    <a:srgbClr val="F8D11F"/>
    <a:srgbClr val="005BAA"/>
    <a:srgbClr val="F1471D"/>
    <a:srgbClr val="00A651"/>
    <a:srgbClr val="1C63AB"/>
    <a:srgbClr val="E7EBF0"/>
    <a:srgbClr val="EEF4FA"/>
    <a:srgbClr val="6971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126" autoAdjust="0"/>
  </p:normalViewPr>
  <p:slideViewPr>
    <p:cSldViewPr snapToGrid="0">
      <p:cViewPr varScale="1">
        <p:scale>
          <a:sx n="71" d="100"/>
          <a:sy n="71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4AEAF-3000-4906-9429-2F23D7F8846E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3B1C7-0E5E-4FF2-BBC5-9031981F7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38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452B-DD6E-BDB8-0B90-755C33EC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48CD7-221B-364E-4846-E8D893F3B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02BA0-0619-A747-5C81-FFFC04D02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D424E-BAB0-2987-31B7-B92486AA4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48004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4C719-0FCE-6706-3C6C-AD9AAEE26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B1E85-CB09-697E-3EEA-0A4B63CF8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64ACE-F08D-C0DA-3A61-45D8BDAA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1E98-6D7D-A1C2-0480-04D9AA19C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37092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C8B6-A1B1-DABD-FAA9-243A8830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6F16D-65B2-11D9-E005-FD8FE762B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E07E8-4201-E894-E437-674BC55DA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1A9F0-1A39-4A22-F3FC-9CE83F78B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37397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0C039-E8CE-F86A-32C8-C2548B81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EB135-2189-BAD4-6D31-8E42FD722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6DEE0-D9F5-82D1-F390-3EE40487F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F6F93-A481-45FB-DD31-4840475D5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1231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9ADF6-C8F0-3EB8-681D-57F00138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BE77C-A330-61AF-E85D-C2EE05A58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013BC-56C4-C3BF-F0A1-E32ECF0B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248F1-D115-C3AB-AB0F-11F780255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3750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21EB-62CC-A886-332C-F9E5F6B40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E5D0B-67B7-250A-A956-25614FACF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DD7B2-1522-230B-7FDC-352CFD422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2C525-DB0E-CEB2-D500-7F2B85090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77440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25ED-6E6A-7F4D-0E2D-8893714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FCFAD-455B-91DF-DE52-382BF455EC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AD40E-D4F8-A35B-1C87-10778D5CC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03353-54FB-E422-3768-A0BEF6622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09657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9CA3-3048-9938-27C6-86F2EEEC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97724-EB30-151C-D05E-96653B876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03668-EF72-17F9-6E59-96CC0DB42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23175-767F-E072-3140-5A8D7C5AA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10930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B78C4-4F80-F1C5-C7A9-D1F83AFDA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C86D1E-C9C0-8058-B60C-6295D4BC3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96872E-8F16-C868-CFD2-9D525591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6288D-F1E9-FBFE-CB17-9483D473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AF8BE7-1F6F-A96A-AD0C-BF246FEC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661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27BA8-DF43-7E38-4A8C-202AA895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3529C-511B-315D-C3E8-022A8EDC0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A5EBB6-5817-38CB-1EF9-D05448246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52B381-0682-7E25-5185-730CC88E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65E53-3E16-0BB1-FAB3-9D00AB01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3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776D1-E818-C1D4-2DC2-21CEBFC3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F314A-509F-09B8-CB70-6807E3C25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44D3A-1824-92C0-7F11-AF09C3DD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FD975B-7520-D2D0-ABDA-9D5B1945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4BEF97-3A36-86EA-1B07-EF8BF252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92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F0F90-3B00-082E-453D-6D4B8A1A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FA60C-1830-0EB1-6059-E17BB5FCE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259C0-0F2D-29D4-D868-FA9E8F577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343ED6-1C18-1A0A-12F3-794CCDA9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302D0D-D2B8-67E3-E65E-B23A93BF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898F29-AF20-6B23-37BF-5C943EEE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22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63C22-1DA5-2545-CC79-67BF14CE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6AD1E9-F075-4ABD-AA6C-FA4682784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366EA2-BD5E-2289-4267-62D9EA1B2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26398E-FE28-1E35-8A6C-BCB83E14F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7733E7-E897-65CE-23AE-F085730FD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425AD6-EFD6-F0FD-0A99-BC874AA44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DA9F2D-8AE3-276C-F3CB-837E9AC2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AA221D-FFB9-2EBD-BD53-D6319645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74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9C4D0-C1B2-EC97-27C0-903DE1C9E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ADA26F-7E8A-8759-41B7-325EB97A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9E491A-0A6F-1BF5-B6B0-78AD239E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E9BF2A-733A-BAA2-A5D4-B488D10E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47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F8614C-1BEF-3BEB-4811-02F78DFD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CB010C-88CD-8E1C-051F-D8AE824A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31371-A34E-1A29-24A9-7883A16F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95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CBD27-16CF-E02A-B504-29338C55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62398E-D2C9-F610-B617-4A0868365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06FF79-F2FA-932D-E390-2913EEFD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633AE8-1A03-CABA-70CA-12AB0138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12E9DB-B3B2-7DF0-CA8C-CDC79E0D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740789-8090-EF4B-4443-E837F4D8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61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E2B00-8093-85B0-F9C4-1A9B6DA6D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904831-8C71-1991-4AC3-1ADB804B3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34A37-F33F-7E32-630C-DB337D488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095BD3-F3E9-E0B0-F845-E3CE8F71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0CBF2A-A944-B79F-F870-0490975A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D95B73-697F-BED1-7035-9F520CBA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26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A7739-6F31-F30D-C4CB-40532474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D5ED74-414A-DD0F-D364-42CDC26C2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167DF-49C8-4CBB-A246-722FDDC40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4323D9-EF8E-FBF9-137E-A56D81A2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E46255-1A5C-43DD-9DC8-FE969D03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47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122D8E-ED76-EAD2-C290-4010CCB3B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D65D20-2326-C962-8E30-03B047CE8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B4DB0-6D20-1A28-B637-E446725D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F1A20-E9C7-D1A7-83D7-482FE570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9E0334-81C7-2453-2941-3DEBE9BF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266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AE11AA-A2DE-B1F2-F082-6A16BD77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6C64A3-9BC8-BD8F-DFBE-823C16640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F155D7-3F2E-07FC-2B3B-B558B6310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8E4E0-3FF0-4CB3-8D62-0E1F3397B76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32D067-F527-4C1C-62EF-7BA2C5C68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31A9F-48F5-0270-6A5C-7E02490F61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0C183-E4D2-4F02-A487-F4295FF7F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87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607CE785-DF33-6A53-86D1-09EBE9A76BA0}"/>
              </a:ext>
            </a:extLst>
          </p:cNvPr>
          <p:cNvSpPr/>
          <p:nvPr/>
        </p:nvSpPr>
        <p:spPr>
          <a:xfrm>
            <a:off x="631624" y="1889178"/>
            <a:ext cx="56290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spc="100" dirty="0"/>
              <a:t>2026</a:t>
            </a:r>
            <a:r>
              <a:rPr lang="en-US" sz="1500" b="1" spc="100"/>
              <a:t>년 </a:t>
            </a:r>
            <a:r>
              <a:rPr lang="ko-KR" altLang="en-US" sz="1500" b="1" spc="100"/>
              <a:t>전기</a:t>
            </a:r>
            <a:r>
              <a:rPr lang="en-US" altLang="ko-KR" sz="1500" b="1" spc="100"/>
              <a:t> </a:t>
            </a:r>
            <a:r>
              <a:rPr lang="ko-KR" altLang="en-US" sz="1500" b="1" spc="100"/>
              <a:t>정보컴퓨터공학부 졸업과제</a:t>
            </a:r>
            <a:endParaRPr lang="en-US" sz="1500" b="1" spc="1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75E643EE-3CC6-D43B-4DE7-7EF2AF15D67F}"/>
              </a:ext>
            </a:extLst>
          </p:cNvPr>
          <p:cNvSpPr/>
          <p:nvPr/>
        </p:nvSpPr>
        <p:spPr>
          <a:xfrm>
            <a:off x="704777" y="3880768"/>
            <a:ext cx="8369421" cy="83651"/>
          </a:xfrm>
          <a:prstGeom prst="rect">
            <a:avLst/>
          </a:prstGeom>
          <a:solidFill>
            <a:srgbClr val="00A651"/>
          </a:solidFill>
          <a:ln>
            <a:solidFill>
              <a:srgbClr val="00A65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18AE58E-5F27-28F8-01D5-834985A7E3BF}"/>
              </a:ext>
            </a:extLst>
          </p:cNvPr>
          <p:cNvSpPr/>
          <p:nvPr/>
        </p:nvSpPr>
        <p:spPr>
          <a:xfrm>
            <a:off x="631624" y="4054051"/>
            <a:ext cx="756415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/>
              <a:t>#</a:t>
            </a:r>
            <a:r>
              <a:rPr lang="ko-KR" altLang="en-US" sz="1500"/>
              <a:t>쿠버네티스</a:t>
            </a:r>
            <a:r>
              <a:rPr lang="en-US" altLang="ko-KR" sz="1500"/>
              <a:t>  #</a:t>
            </a:r>
            <a:r>
              <a:rPr lang="ko-KR" altLang="en-US" sz="1500"/>
              <a:t>서비스메시  </a:t>
            </a:r>
            <a:r>
              <a:rPr lang="en-US" altLang="ko-KR" sz="1500"/>
              <a:t>#</a:t>
            </a:r>
            <a:r>
              <a:rPr lang="ko-KR" altLang="en-US" sz="1500"/>
              <a:t>공격 전이 차단</a:t>
            </a:r>
            <a:endParaRPr lang="en-US" sz="15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5D876AE0-82BA-2F8B-58BD-76A1D0537D10}"/>
              </a:ext>
            </a:extLst>
          </p:cNvPr>
          <p:cNvSpPr/>
          <p:nvPr/>
        </p:nvSpPr>
        <p:spPr>
          <a:xfrm>
            <a:off x="704777" y="5352052"/>
            <a:ext cx="40357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4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부산대학교 정보컴퓨터공학부</a:t>
            </a:r>
            <a:endParaRPr lang="en-US" sz="14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신의철, 정의진, 이시하   |   지도교수 최윤호</a:t>
            </a:r>
            <a:endParaRPr lang="en-US" sz="14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EE43C38B-B854-E050-F741-343EE906DF30}"/>
              </a:ext>
            </a:extLst>
          </p:cNvPr>
          <p:cNvSpPr/>
          <p:nvPr/>
        </p:nvSpPr>
        <p:spPr>
          <a:xfrm>
            <a:off x="704777" y="2323836"/>
            <a:ext cx="8369421" cy="74055"/>
          </a:xfrm>
          <a:prstGeom prst="rect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9FC4A5-A6A5-7973-5ADB-1FA5BDC2426F}"/>
              </a:ext>
            </a:extLst>
          </p:cNvPr>
          <p:cNvSpPr txBox="1"/>
          <p:nvPr/>
        </p:nvSpPr>
        <p:spPr>
          <a:xfrm>
            <a:off x="704777" y="2451408"/>
            <a:ext cx="8439222" cy="1301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>
                <a:latin typeface="+mj-lt"/>
              </a:rPr>
              <a:t>KD-CNN </a:t>
            </a:r>
            <a:r>
              <a:rPr lang="ko-KR" altLang="en-US" sz="2800" b="1">
                <a:latin typeface="+mj-lt"/>
              </a:rPr>
              <a:t>기반 경량 서비스메시를 활용한</a:t>
            </a:r>
            <a:br>
              <a:rPr lang="en-US" altLang="ko-KR" sz="2800" b="1">
                <a:latin typeface="+mj-lt"/>
              </a:rPr>
            </a:br>
            <a:r>
              <a:rPr lang="ko-KR" altLang="en-US" sz="2800" b="1">
                <a:latin typeface="+mj-lt"/>
              </a:rPr>
              <a:t>클라우드 네이티브 침입탐지시스템 설계 및 구현</a:t>
            </a:r>
            <a:endParaRPr lang="en-US" altLang="ko-KR" sz="2800" b="1" dirty="0">
              <a:latin typeface="+mj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6FA211-6149-0965-D325-E031B64EE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37" y="4419811"/>
            <a:ext cx="2270041" cy="2104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ACCA9-003F-0AB1-11A5-BD112049B95B}"/>
              </a:ext>
            </a:extLst>
          </p:cNvPr>
          <p:cNvSpPr txBox="1"/>
          <p:nvPr/>
        </p:nvSpPr>
        <p:spPr>
          <a:xfrm>
            <a:off x="537432" y="2691747"/>
            <a:ext cx="11117135" cy="1474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+mj-lt"/>
              </a:rPr>
              <a:t>Part 1</a:t>
            </a:r>
          </a:p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+mj-lt"/>
              </a:rPr>
              <a:t>배경 </a:t>
            </a:r>
            <a:r>
              <a:rPr lang="ko-KR" altLang="en-US" sz="3200" b="1">
                <a:solidFill>
                  <a:schemeClr val="bg1"/>
                </a:solidFill>
                <a:latin typeface="+mj-lt"/>
              </a:rPr>
              <a:t>및 과제목표</a:t>
            </a:r>
            <a:endParaRPr lang="en-US" altLang="ko-KR" sz="32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47E4B-8C9D-D248-3F1A-B87F884C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81121B31-0761-C10E-3355-D8B111D167B8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134DC7-4987-E8EE-7A00-AB9C536D61DD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9856B33F-6BA5-7A05-2CA4-32C8BA3BEED7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6EDC77B-D09C-75F7-49E4-A7F4574E6846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BACKGROUND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C861875-CA8D-7E49-97A4-B4224360D3AB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사전 지식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A76925-C5F6-234C-06DA-C0F438634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229C6CE-39B4-19BE-FF3D-DC05DC30BD6C}"/>
              </a:ext>
            </a:extLst>
          </p:cNvPr>
          <p:cNvSpPr/>
          <p:nvPr/>
        </p:nvSpPr>
        <p:spPr>
          <a:xfrm>
            <a:off x="579628" y="1738740"/>
            <a:ext cx="5390866" cy="45544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29116A3-FA53-5D3A-FDB3-B37717E0FD4F}"/>
              </a:ext>
            </a:extLst>
          </p:cNvPr>
          <p:cNvSpPr/>
          <p:nvPr/>
        </p:nvSpPr>
        <p:spPr>
          <a:xfrm>
            <a:off x="6237762" y="1738740"/>
            <a:ext cx="5390866" cy="45544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F86A6-60E0-C5DA-D268-BC077360B66E}"/>
              </a:ext>
            </a:extLst>
          </p:cNvPr>
          <p:cNvSpPr txBox="1"/>
          <p:nvPr/>
        </p:nvSpPr>
        <p:spPr>
          <a:xfrm>
            <a:off x="1745637" y="1921432"/>
            <a:ext cx="303016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50" b="1">
                <a:solidFill>
                  <a:srgbClr val="1A1A1A"/>
                </a:solidFill>
                <a:latin typeface="맑은 고딕"/>
                <a:ea typeface="맑은 고딕"/>
              </a:rPr>
              <a:t>클라우드 네이티브</a:t>
            </a:r>
            <a:endParaRPr lang="ko-KR" sz="1450" b="1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C3DF1F-4ED5-6667-5BE6-81B22951E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2468406"/>
            <a:ext cx="5029200" cy="21586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D590BB-53D9-F9A6-0C9F-DB7210380332}"/>
              </a:ext>
            </a:extLst>
          </p:cNvPr>
          <p:cNvSpPr txBox="1"/>
          <p:nvPr/>
        </p:nvSpPr>
        <p:spPr>
          <a:xfrm>
            <a:off x="7686339" y="1935929"/>
            <a:ext cx="2620174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50" b="1">
                <a:solidFill>
                  <a:srgbClr val="1A1A1A"/>
                </a:solidFill>
                <a:latin typeface="맑은 고딕"/>
                <a:ea typeface="맑은 고딕"/>
              </a:rPr>
              <a:t>마이크로서비스 구조 </a:t>
            </a:r>
            <a:r>
              <a:rPr lang="en-US" altLang="ko-KR" sz="1450" b="1">
                <a:solidFill>
                  <a:srgbClr val="1A1A1A"/>
                </a:solidFill>
                <a:latin typeface="맑은 고딕"/>
                <a:ea typeface="맑은 고딕"/>
              </a:rPr>
              <a:t>(MSA)</a:t>
            </a:r>
            <a:endParaRPr lang="ko-KR" sz="1450" b="1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09C328DA-7915-0A8A-BAE7-A4BDBC665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039" y="2316394"/>
            <a:ext cx="4323603" cy="2370827"/>
          </a:xfrm>
          <a:prstGeom prst="rect">
            <a:avLst/>
          </a:prstGeom>
        </p:spPr>
      </p:pic>
      <p:sp>
        <p:nvSpPr>
          <p:cNvPr id="901" name="Check Box 901"/>
          <p:cNvSpPr/>
          <p:nvPr/>
        </p:nvSpPr>
        <p:spPr>
          <a:xfrm>
            <a:off x="762000" y="4953000"/>
            <a:ext cx="5029200" cy="1168400"/>
          </a:xfrm>
          <a:prstGeom prst="roundRect">
            <a:avLst/>
          </a:prstGeom>
          <a:solidFill>
            <a:srgbClr val="E2EAF3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클라우드 환경에 맞춰 </a:t>
            </a: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설계, 배포, 운영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하는 방식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컨테이너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는 앱과 실행 환경을 묶은 패키지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컨테이너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 단위로 빠르게 확장하고 복구</a:t>
            </a:r>
          </a:p>
        </p:txBody>
      </p:sp>
      <p:sp>
        <p:nvSpPr>
          <p:cNvPr id="902" name="Check Box 902"/>
          <p:cNvSpPr/>
          <p:nvPr/>
        </p:nvSpPr>
        <p:spPr>
          <a:xfrm>
            <a:off x="6413500" y="4953000"/>
            <a:ext cx="5029200" cy="1168400"/>
          </a:xfrm>
          <a:prstGeom prst="roundRect">
            <a:avLst/>
          </a:prstGeom>
          <a:solidFill>
            <a:srgbClr val="E2EAF3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서비스를 </a:t>
            </a: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기능별 작은 단위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로 분리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서비스끼리 </a:t>
            </a: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네트워크 통신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으로 협력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서비스별 </a:t>
            </a:r>
            <a:r>
              <a:rPr lang="ko-KR" altLang="en-US" sz="1400" b="1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독립 배포, 확장</a:t>
            </a:r>
            <a:r>
              <a:rPr lang="ko-KR" altLang="en-US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으로 클라우드에 적합</a:t>
            </a:r>
          </a:p>
        </p:txBody>
      </p:sp>
    </p:spTree>
    <p:extLst>
      <p:ext uri="{BB962C8B-B14F-4D97-AF65-F5344CB8AC3E}">
        <p14:creationId xmlns:p14="http://schemas.microsoft.com/office/powerpoint/2010/main" val="391674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0FCA-B6C9-7BE2-6AD4-321F494C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AE8DED52-5DD9-8A35-7E82-0EFB94990BD6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A55FD8-47DB-1F9F-B34B-298F1638E809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617E8A09-7414-2FAE-F0B6-809708497730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34DCB1E-3C22-C33F-0A6E-A2D9B443C6D4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BACKGROUND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E8FCA35-2362-0E91-32E2-3E724611B32A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사전 지식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E95D8E-5345-2492-60D1-F9D3CBAF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2AA9B9D-E68D-2328-8967-0999A5F6EA60}"/>
              </a:ext>
            </a:extLst>
          </p:cNvPr>
          <p:cNvSpPr/>
          <p:nvPr/>
        </p:nvSpPr>
        <p:spPr>
          <a:xfrm>
            <a:off x="579628" y="1712790"/>
            <a:ext cx="5435092" cy="45804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FD48A9D-4245-F65F-2ACE-E320D0B8AED4}"/>
              </a:ext>
            </a:extLst>
          </p:cNvPr>
          <p:cNvSpPr/>
          <p:nvPr/>
        </p:nvSpPr>
        <p:spPr>
          <a:xfrm>
            <a:off x="6278880" y="1708026"/>
            <a:ext cx="5349748" cy="45851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A1C50-8849-C4AA-2D2A-AC17C91788E2}"/>
              </a:ext>
            </a:extLst>
          </p:cNvPr>
          <p:cNvSpPr txBox="1"/>
          <p:nvPr/>
        </p:nvSpPr>
        <p:spPr>
          <a:xfrm>
            <a:off x="1821583" y="1958340"/>
            <a:ext cx="2951181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50" b="1">
                <a:solidFill>
                  <a:srgbClr val="1A1A1A"/>
                </a:solidFill>
                <a:latin typeface="맑은 고딕"/>
                <a:ea typeface="맑은 고딕"/>
              </a:rPr>
              <a:t>쿠버네티스</a:t>
            </a:r>
            <a:r>
              <a:rPr lang="en-US" altLang="ko-KR" sz="1450" b="1">
                <a:solidFill>
                  <a:srgbClr val="1A1A1A"/>
                </a:solidFill>
                <a:latin typeface="맑은 고딕"/>
                <a:ea typeface="맑은 고딕"/>
              </a:rPr>
              <a:t>, Pod</a:t>
            </a:r>
            <a:endParaRPr lang="ko-KR" sz="1450" b="1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84600D-D637-DD07-83D9-04769313F78C}"/>
              </a:ext>
            </a:extLst>
          </p:cNvPr>
          <p:cNvSpPr txBox="1"/>
          <p:nvPr/>
        </p:nvSpPr>
        <p:spPr>
          <a:xfrm>
            <a:off x="7659866" y="1846771"/>
            <a:ext cx="2620174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50" b="1">
                <a:solidFill>
                  <a:srgbClr val="1A1A1A"/>
                </a:solidFill>
                <a:latin typeface="맑은 고딕"/>
                <a:ea typeface="맑은 고딕"/>
              </a:rPr>
              <a:t>사이드카</a:t>
            </a:r>
            <a:r>
              <a:rPr lang="en-US" altLang="ko-KR" sz="1450" b="1">
                <a:solidFill>
                  <a:srgbClr val="1A1A1A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 b="1">
                <a:solidFill>
                  <a:srgbClr val="1A1A1A"/>
                </a:solidFill>
                <a:latin typeface="맑은 고딕"/>
                <a:ea typeface="맑은 고딕"/>
              </a:rPr>
              <a:t>서비스메시</a:t>
            </a:r>
            <a:endParaRPr lang="ko-KR" sz="1450" b="1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DC28C4-A8B8-9ED0-8CBA-F21B3143E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36" y="2458081"/>
            <a:ext cx="5132474" cy="22920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DC40EFB-D0A2-E0FC-D038-E7E0568EFB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590" y="2209800"/>
            <a:ext cx="4758725" cy="2696976"/>
          </a:xfrm>
          <a:prstGeom prst="rect">
            <a:avLst/>
          </a:prstGeom>
        </p:spPr>
      </p:pic>
      <p:sp>
        <p:nvSpPr>
          <p:cNvPr id="901" name="Check Box 901"/>
          <p:cNvSpPr/>
          <p:nvPr/>
        </p:nvSpPr>
        <p:spPr>
          <a:xfrm>
            <a:off x="762000" y="5029200"/>
            <a:ext cx="5080000" cy="1117600"/>
          </a:xfrm>
          <a:prstGeom prst="roundRect">
            <a:avLst/>
          </a:prstGeom>
          <a:solidFill>
            <a:srgbClr val="E2EAF3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컨테이너 배포와 확장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을 자동화하는 플랫폼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Pod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는 컨테이너를 묶어 실행하는 최소 단위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장점</a:t>
            </a:r>
            <a:r>
              <a:rPr lang="en-US" altLang="ko-KR" sz="1400" b="1">
                <a:solidFill>
                  <a:prstClr val="black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장애 시 </a:t>
            </a: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자동 복구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, 부하에 따라 </a:t>
            </a: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자동 확장</a:t>
            </a:r>
          </a:p>
        </p:txBody>
      </p:sp>
      <p:sp>
        <p:nvSpPr>
          <p:cNvPr id="902" name="Check Box 902"/>
          <p:cNvSpPr/>
          <p:nvPr/>
        </p:nvSpPr>
        <p:spPr>
          <a:xfrm>
            <a:off x="6400800" y="5029200"/>
            <a:ext cx="5092700" cy="1117600"/>
          </a:xfrm>
          <a:prstGeom prst="roundRect">
            <a:avLst/>
          </a:prstGeom>
          <a:solidFill>
            <a:srgbClr val="E2EAF3"/>
          </a:solidFill>
          <a:ln>
            <a:noFill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사이드카 프록시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가 서비스 옆에서 트래픽 중계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서비스메시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가 프록시 전체를 제어하고 관리</a:t>
            </a:r>
          </a:p>
          <a:p>
            <a:pPr marL="324000" indent="-324000" algn="l" eaLnBrk="0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장점</a:t>
            </a:r>
            <a:r>
              <a:rPr lang="en-US" altLang="ko-KR" sz="1400" b="1">
                <a:solidFill>
                  <a:prstClr val="black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코드 수정 없이 </a:t>
            </a:r>
            <a:r>
              <a:rPr lang="ko-KR" altLang="en-US" sz="1400" b="1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보안, 관측, 트래픽 제어</a:t>
            </a:r>
            <a:r>
              <a:rPr lang="ko-KR" altLang="en-US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 적용</a:t>
            </a:r>
          </a:p>
        </p:txBody>
      </p:sp>
    </p:spTree>
    <p:extLst>
      <p:ext uri="{BB962C8B-B14F-4D97-AF65-F5344CB8AC3E}">
        <p14:creationId xmlns:p14="http://schemas.microsoft.com/office/powerpoint/2010/main" val="117266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05F5C51D-9D4E-1910-5768-21FD94C2F2D7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E91085-7D1E-7A70-2B2F-FDFCDB4728F6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23D33D51-1C84-A310-F393-E33D69FB7B99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1F03D0-31B3-1E10-6A94-C8C04251002C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BACKGROUND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C59F32-0064-0A41-91DC-41256F7C332A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2900" b="1" dirty="0">
                <a:latin typeface="+mj-lt"/>
              </a:rPr>
              <a:t>AI가 해킹을 자동화하는 시대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2E12FA-973E-9E1B-1E8C-FBF28C47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9628" y="1738740"/>
            <a:ext cx="3556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128" y="3202085"/>
            <a:ext cx="320040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05BAA"/>
                </a:solidFill>
                <a:latin typeface="맑은 고딕"/>
                <a:ea typeface="맑은 고딕"/>
              </a:rPr>
              <a:t>80~90%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128" y="3833788"/>
            <a:ext cx="3200400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해킹 전 과정 중</a:t>
            </a:r>
          </a:p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AI가 스스로 수행한 비율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428" y="4464452"/>
            <a:ext cx="32004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675"/>
                </a:solidFill>
                <a:latin typeface="맑은 고딕"/>
                <a:ea typeface="맑은 고딕"/>
              </a:rPr>
              <a:t>정찰, 침투부터 옆 시스템으로 번지는 측면이동까지 AI가 직접 수행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428" y="5066140"/>
            <a:ext cx="3200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맑은 고딕"/>
                <a:ea typeface="맑은 고딕"/>
              </a:rPr>
              <a:t>출처: Anthropic, 2025.11.13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6128" y="1738740"/>
            <a:ext cx="3556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3928" y="3146190"/>
            <a:ext cx="320040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05BAA"/>
                </a:solidFill>
                <a:latin typeface="맑은 고딕"/>
                <a:ea typeface="맑은 고딕"/>
              </a:rPr>
              <a:t>10,000+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3928" y="3781649"/>
            <a:ext cx="3200400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AI로 한 달여 만에 찾은</a:t>
            </a:r>
          </a:p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심각한 취약점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3928" y="4444326"/>
            <a:ext cx="32004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675"/>
                </a:solidFill>
                <a:latin typeface="맑은 고딕"/>
                <a:ea typeface="맑은 고딕"/>
              </a:rPr>
              <a:t>공격자도 같은 속도로 취약점을 찾을 수 있다</a:t>
            </a:r>
            <a:endParaRPr lang="en-US" sz="1250" b="0">
              <a:solidFill>
                <a:srgbClr val="5B6675"/>
              </a:solidFill>
              <a:latin typeface="맑은 고딕"/>
              <a:ea typeface="맑은 고딕"/>
            </a:endParaRPr>
          </a:p>
          <a:p>
            <a:pPr algn="l"/>
            <a:r>
              <a:rPr lang="ko-KR" altLang="en-US" sz="1250">
                <a:solidFill>
                  <a:srgbClr val="5B6675"/>
                </a:solidFill>
                <a:latin typeface="맑은 고딕"/>
                <a:ea typeface="맑은 고딕"/>
              </a:rPr>
              <a:t>방어측에서 정적 규칙으로 대응하기 힘듦</a:t>
            </a:r>
            <a:endParaRPr sz="1250" b="0">
              <a:solidFill>
                <a:srgbClr val="5B6675"/>
              </a:solidFill>
              <a:latin typeface="맑은 고딕"/>
              <a:ea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03928" y="5066140"/>
            <a:ext cx="3200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B6675"/>
                </a:solidFill>
                <a:latin typeface="맑은 고딕"/>
                <a:ea typeface="맑은 고딕"/>
              </a:rPr>
              <a:t>출처: Anthropic Project Glasswing, 2026.05.22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777450"/>
            <a:ext cx="11061700" cy="496349"/>
          </a:xfrm>
          <a:prstGeom prst="roundRect">
            <a:avLst>
              <a:gd name="adj" fmla="val 12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1600" b="1">
                <a:solidFill>
                  <a:srgbClr val="1A1A1A"/>
                </a:solidFill>
                <a:latin typeface="맑은 고딕"/>
                <a:ea typeface="맑은 고딕"/>
              </a:rPr>
              <a:t>침입 자체는 쉬워지고 있다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</a:rPr>
              <a:t>.  </a:t>
            </a:r>
            <a:r>
              <a:rPr sz="1600" b="1">
                <a:solidFill>
                  <a:srgbClr val="005BAA"/>
                </a:solidFill>
                <a:latin typeface="맑은 고딕"/>
                <a:ea typeface="맑은 고딕"/>
              </a:rPr>
              <a:t>→ 침입 이후 내부</a:t>
            </a:r>
            <a:r>
              <a:rPr lang="ko-KR" altLang="en-US" sz="1600" b="1">
                <a:solidFill>
                  <a:srgbClr val="005BAA"/>
                </a:solidFill>
                <a:latin typeface="맑은 고딕"/>
                <a:ea typeface="맑은 고딕"/>
              </a:rPr>
              <a:t>에서 공격이</a:t>
            </a:r>
            <a:r>
              <a:rPr sz="1600" b="1">
                <a:solidFill>
                  <a:srgbClr val="005BAA"/>
                </a:solidFill>
                <a:latin typeface="맑은 고딕"/>
                <a:ea typeface="맑은 고딕"/>
              </a:rPr>
              <a:t> ‘번지는 것’을 막</a:t>
            </a:r>
            <a:r>
              <a:rPr lang="ko-KR" altLang="en-US" sz="1600" b="1">
                <a:solidFill>
                  <a:srgbClr val="005BAA"/>
                </a:solidFill>
                <a:latin typeface="맑은 고딕"/>
                <a:ea typeface="맑은 고딕"/>
              </a:rPr>
              <a:t>아야 한다</a:t>
            </a:r>
            <a:r>
              <a:rPr lang="en-US" altLang="ko-KR" sz="1600" b="1">
                <a:solidFill>
                  <a:srgbClr val="005BAA"/>
                </a:solidFill>
                <a:latin typeface="맑은 고딕"/>
                <a:ea typeface="맑은 고딕"/>
              </a:rPr>
              <a:t>.</a:t>
            </a:r>
            <a:endParaRPr sz="1600" b="1">
              <a:solidFill>
                <a:srgbClr val="005BA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72628" y="1738740"/>
            <a:ext cx="3556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30" name="Copied Picture 30" descr="C5_gcloud_threa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428" y="2211982"/>
            <a:ext cx="3171444" cy="21035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50428" y="1916540"/>
            <a:ext cx="32004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50" b="1" dirty="0">
                <a:solidFill>
                  <a:srgbClr val="1A1A1A"/>
                </a:solidFill>
                <a:latin typeface="맑은 고딕"/>
                <a:ea typeface="맑은 고딕"/>
              </a:rPr>
              <a:t>공격자가 처음 들어온 경로</a:t>
            </a:r>
          </a:p>
        </p:txBody>
      </p:sp>
      <p:sp>
        <p:nvSpPr>
          <p:cNvPr id="42" name="Stat 42"/>
          <p:cNvSpPr/>
          <p:nvPr/>
        </p:nvSpPr>
        <p:spPr>
          <a:xfrm>
            <a:off x="8250428" y="4409115"/>
            <a:ext cx="1016000" cy="581498"/>
          </a:xfrm>
          <a:prstGeom prst="roundRect">
            <a:avLst>
              <a:gd name="adj" fmla="val 8000"/>
            </a:avLst>
          </a:prstGeom>
          <a:solidFill>
            <a:srgbClr val="E2EAF3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lang="ko-KR" sz="1600" b="1" dirty="0">
                <a:solidFill>
                  <a:srgbClr val="005BAA"/>
                </a:solidFill>
                <a:latin typeface="맑은 고딕"/>
                <a:ea typeface="맑은 고딕"/>
              </a:rPr>
              <a:t>44.5%</a:t>
            </a:r>
          </a:p>
          <a:p>
            <a:pPr algn="ctr"/>
            <a:r>
              <a:rPr lang="ko-KR" sz="1000" b="0" dirty="0">
                <a:solidFill>
                  <a:srgbClr val="1A1A1A"/>
                </a:solidFill>
                <a:latin typeface="맑은 고딕"/>
                <a:ea typeface="맑은 고딕"/>
              </a:rPr>
              <a:t>SW 취약점</a:t>
            </a:r>
          </a:p>
        </p:txBody>
      </p:sp>
      <p:sp>
        <p:nvSpPr>
          <p:cNvPr id="43" name="Stat 43"/>
          <p:cNvSpPr/>
          <p:nvPr/>
        </p:nvSpPr>
        <p:spPr>
          <a:xfrm>
            <a:off x="9342628" y="4409116"/>
            <a:ext cx="1016000" cy="581499"/>
          </a:xfrm>
          <a:prstGeom prst="roundRect">
            <a:avLst>
              <a:gd name="adj" fmla="val 8000"/>
            </a:avLst>
          </a:prstGeom>
          <a:solidFill>
            <a:srgbClr val="E2EAF3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lang="ko-KR" b="1" dirty="0">
                <a:solidFill>
                  <a:srgbClr val="005BAA"/>
                </a:solidFill>
                <a:latin typeface="맑은 고딕"/>
                <a:ea typeface="맑은 고딕"/>
              </a:rPr>
              <a:t>27.2%</a:t>
            </a:r>
          </a:p>
          <a:p>
            <a:pPr algn="ctr"/>
            <a:r>
              <a:rPr lang="ko-KR" sz="1000" b="0" dirty="0">
                <a:solidFill>
                  <a:srgbClr val="1A1A1A"/>
                </a:solidFill>
                <a:latin typeface="맑은 고딕"/>
                <a:ea typeface="맑은 고딕"/>
              </a:rPr>
              <a:t>인증정보 부실</a:t>
            </a:r>
          </a:p>
        </p:txBody>
      </p:sp>
      <p:sp>
        <p:nvSpPr>
          <p:cNvPr id="44" name="Stat 44"/>
          <p:cNvSpPr/>
          <p:nvPr/>
        </p:nvSpPr>
        <p:spPr>
          <a:xfrm>
            <a:off x="10434828" y="4409115"/>
            <a:ext cx="1016000" cy="581500"/>
          </a:xfrm>
          <a:prstGeom prst="roundRect">
            <a:avLst>
              <a:gd name="adj" fmla="val 8000"/>
            </a:avLst>
          </a:prstGeom>
          <a:solidFill>
            <a:srgbClr val="E2EAF3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lang="ko-KR" sz="1600" b="1" dirty="0">
                <a:solidFill>
                  <a:srgbClr val="005BAA"/>
                </a:solidFill>
                <a:latin typeface="맑은 고딕"/>
                <a:ea typeface="맑은 고딕"/>
              </a:rPr>
              <a:t>21.0%</a:t>
            </a:r>
          </a:p>
          <a:p>
            <a:pPr algn="ctr"/>
            <a:r>
              <a:rPr lang="ko-KR" sz="1000" b="0" dirty="0">
                <a:solidFill>
                  <a:srgbClr val="1A1A1A"/>
                </a:solidFill>
                <a:latin typeface="맑은 고딕"/>
                <a:ea typeface="맑은 고딕"/>
              </a:rPr>
              <a:t>설정 실수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428" y="5109157"/>
            <a:ext cx="3200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0" dirty="0">
                <a:solidFill>
                  <a:srgbClr val="5B6675"/>
                </a:solidFill>
                <a:latin typeface="맑은 고딕"/>
                <a:ea typeface="맑은 고딕"/>
              </a:rPr>
              <a:t>출처: Google Cloud Threat Horizons Report </a:t>
            </a:r>
            <a:r>
              <a:rPr lang="ko-KR" sz="1000" b="0">
                <a:solidFill>
                  <a:srgbClr val="5B6675"/>
                </a:solidFill>
                <a:latin typeface="맑은 고딕"/>
                <a:ea typeface="맑은 고딕"/>
              </a:rPr>
              <a:t>H1 2026</a:t>
            </a:r>
            <a:endParaRPr lang="ko-KR" sz="1000" b="0" dirty="0">
              <a:solidFill>
                <a:srgbClr val="5B6675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04F78E-4EC3-12FE-CE1A-7327E1EFD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928" y="2031891"/>
            <a:ext cx="3287619" cy="9849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9677CBB-F1D8-6F2D-F0D1-51100F99A3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3" t="19127" r="12050" b="45703"/>
          <a:stretch>
            <a:fillRect/>
          </a:stretch>
        </p:blipFill>
        <p:spPr>
          <a:xfrm>
            <a:off x="741680" y="2152421"/>
            <a:ext cx="3257296" cy="855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38104C-AAD9-04E8-2A2D-0F8A791FD079}"/>
              </a:ext>
            </a:extLst>
          </p:cNvPr>
          <p:cNvSpPr txBox="1"/>
          <p:nvPr/>
        </p:nvSpPr>
        <p:spPr>
          <a:xfrm>
            <a:off x="3095244" y="2034278"/>
            <a:ext cx="903732" cy="76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500" b="0">
                <a:solidFill>
                  <a:srgbClr val="5B6675"/>
                </a:solidFill>
                <a:latin typeface="맑은 고딕"/>
                <a:ea typeface="맑은 고딕"/>
              </a:rPr>
              <a:t>Anthropic, 2025.11.13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D3B046-D771-F471-C710-02852C51F868}"/>
              </a:ext>
            </a:extLst>
          </p:cNvPr>
          <p:cNvSpPr/>
          <p:nvPr/>
        </p:nvSpPr>
        <p:spPr>
          <a:xfrm>
            <a:off x="2654808" y="2416009"/>
            <a:ext cx="637032" cy="85891"/>
          </a:xfrm>
          <a:prstGeom prst="rect">
            <a:avLst/>
          </a:prstGeom>
          <a:solidFill>
            <a:srgbClr val="F8D11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95DF250-2B3B-1889-20A6-9CF29440FF91}"/>
              </a:ext>
            </a:extLst>
          </p:cNvPr>
          <p:cNvSpPr/>
          <p:nvPr/>
        </p:nvSpPr>
        <p:spPr>
          <a:xfrm>
            <a:off x="770128" y="2846375"/>
            <a:ext cx="1081532" cy="115265"/>
          </a:xfrm>
          <a:prstGeom prst="rect">
            <a:avLst/>
          </a:prstGeom>
          <a:solidFill>
            <a:srgbClr val="F8D11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88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321B-43E5-F240-1D6E-D28CC284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B3B4BC66-1BD7-2A94-68CB-DACB42F0EB60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3103E-5497-0C5E-67A6-D96A215D07A1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Boundary Security"/>
          <p:cNvSpPr/>
          <p:nvPr/>
        </p:nvSpPr>
        <p:spPr>
          <a:xfrm>
            <a:off x="2881423" y="1788326"/>
            <a:ext cx="8453289" cy="3670446"/>
          </a:xfrm>
          <a:prstGeom prst="roundRect">
            <a:avLst>
              <a:gd name="adj" fmla="val 1188"/>
            </a:avLst>
          </a:prstGeom>
          <a:noFill/>
          <a:ln w="19050">
            <a:solidFill>
              <a:srgbClr val="00A6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EB3DF69A-1A0D-571B-CF92-9610576B5F37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C54E4D7-107C-3808-6001-DCC82D57AD24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</a:t>
            </a:r>
            <a:r>
              <a:rPr lang="en-US" altLang="ko-KR" sz="1200" b="1" kern="0" spc="10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BACKGROUND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3F0230D-72A9-219A-8BCC-D8C8F2E3AC93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과제 목표</a:t>
            </a:r>
            <a:r>
              <a:rPr lang="en-US" altLang="ko-KR" sz="2900" b="1">
                <a:latin typeface="+mj-lt"/>
              </a:rPr>
              <a:t>: 측면이동(Lateral Movement) </a:t>
            </a:r>
            <a:r>
              <a:rPr lang="ko-KR" altLang="en-US" sz="2900" b="1">
                <a:latin typeface="+mj-lt"/>
              </a:rPr>
              <a:t>공격 방어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303E21-3553-217F-11E3-77B8EDFD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AA9297B-C0CA-D83D-828C-3DBEFAA15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" y="2810026"/>
            <a:ext cx="815548" cy="81554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DE0DA7F-5865-370A-486F-652D288D24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2" t="30609" r="12980" b="30668"/>
          <a:stretch>
            <a:fillRect/>
          </a:stretch>
        </p:blipFill>
        <p:spPr>
          <a:xfrm>
            <a:off x="9614849" y="2994348"/>
            <a:ext cx="771232" cy="75951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2D43559-B7BC-D87D-2757-436CC5AAC67D}"/>
              </a:ext>
            </a:extLst>
          </p:cNvPr>
          <p:cNvSpPr/>
          <p:nvPr/>
        </p:nvSpPr>
        <p:spPr>
          <a:xfrm>
            <a:off x="3280764" y="2161827"/>
            <a:ext cx="7714050" cy="31198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5E28B4-9F7B-38FB-7566-FF1DA2A9E1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147" y="1895707"/>
            <a:ext cx="541994" cy="5276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C077E6A-F52D-B537-C3AB-95CD53898C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00" y="4233503"/>
            <a:ext cx="759589" cy="75958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6A0F03C-92AF-3752-9AC6-825EA0573073}"/>
              </a:ext>
            </a:extLst>
          </p:cNvPr>
          <p:cNvSpPr/>
          <p:nvPr/>
        </p:nvSpPr>
        <p:spPr>
          <a:xfrm>
            <a:off x="9204865" y="2407177"/>
            <a:ext cx="1608046" cy="2702234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D9BD6D-CBC2-6176-0D49-2EA5C0AA5A3F}"/>
              </a:ext>
            </a:extLst>
          </p:cNvPr>
          <p:cNvSpPr/>
          <p:nvPr/>
        </p:nvSpPr>
        <p:spPr>
          <a:xfrm>
            <a:off x="3551760" y="2404437"/>
            <a:ext cx="5497866" cy="2704973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0D579D-D654-93E4-8CFE-FFB560460761}"/>
              </a:ext>
            </a:extLst>
          </p:cNvPr>
          <p:cNvSpPr/>
          <p:nvPr/>
        </p:nvSpPr>
        <p:spPr>
          <a:xfrm>
            <a:off x="9291059" y="2249063"/>
            <a:ext cx="1409700" cy="3107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Master Node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4283CA-33F7-451B-5AC4-6D570A2C9529}"/>
              </a:ext>
            </a:extLst>
          </p:cNvPr>
          <p:cNvSpPr/>
          <p:nvPr/>
        </p:nvSpPr>
        <p:spPr>
          <a:xfrm>
            <a:off x="5666996" y="2261406"/>
            <a:ext cx="1409700" cy="312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Worker Node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4B9B75-B975-5A1E-4753-5F59CC39943D}"/>
              </a:ext>
            </a:extLst>
          </p:cNvPr>
          <p:cNvSpPr txBox="1"/>
          <p:nvPr/>
        </p:nvSpPr>
        <p:spPr>
          <a:xfrm>
            <a:off x="9320622" y="3791457"/>
            <a:ext cx="1448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K8s API Server</a:t>
            </a:r>
            <a:endParaRPr lang="ko-KR" altLang="en-US" sz="1400" b="1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47C5C89-B557-1E34-0D55-2A13A7478D14}"/>
              </a:ext>
            </a:extLst>
          </p:cNvPr>
          <p:cNvSpPr/>
          <p:nvPr/>
        </p:nvSpPr>
        <p:spPr>
          <a:xfrm>
            <a:off x="7180392" y="2862726"/>
            <a:ext cx="1663445" cy="424562"/>
          </a:xfrm>
          <a:prstGeom prst="roundRect">
            <a:avLst>
              <a:gd name="adj" fmla="val 195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Auth Pod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07D0DF2-8B6C-8420-92E4-A7C72888E55D}"/>
              </a:ext>
            </a:extLst>
          </p:cNvPr>
          <p:cNvSpPr/>
          <p:nvPr/>
        </p:nvSpPr>
        <p:spPr>
          <a:xfrm>
            <a:off x="7159029" y="3408406"/>
            <a:ext cx="1693391" cy="430655"/>
          </a:xfrm>
          <a:prstGeom prst="roundRect">
            <a:avLst>
              <a:gd name="adj" fmla="val 195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Post Pod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BE375E0-6C5C-202D-1FE9-410DC59619A2}"/>
              </a:ext>
            </a:extLst>
          </p:cNvPr>
          <p:cNvSpPr/>
          <p:nvPr/>
        </p:nvSpPr>
        <p:spPr>
          <a:xfrm>
            <a:off x="7159029" y="3950485"/>
            <a:ext cx="1693390" cy="433781"/>
          </a:xfrm>
          <a:prstGeom prst="roundRect">
            <a:avLst>
              <a:gd name="adj" fmla="val 195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Comment Pod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CEC9267-3C33-198F-F707-1ADA193D3C7E}"/>
              </a:ext>
            </a:extLst>
          </p:cNvPr>
          <p:cNvSpPr/>
          <p:nvPr/>
        </p:nvSpPr>
        <p:spPr>
          <a:xfrm>
            <a:off x="3796326" y="2989867"/>
            <a:ext cx="1579571" cy="1304012"/>
          </a:xfrm>
          <a:prstGeom prst="roundRect">
            <a:avLst>
              <a:gd name="adj" fmla="val 10368"/>
            </a:avLst>
          </a:prstGeom>
          <a:solidFill>
            <a:srgbClr val="FFCC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>
                <a:solidFill>
                  <a:schemeClr val="tx1"/>
                </a:solidFill>
              </a:rPr>
              <a:t>Frontend Pod</a:t>
            </a:r>
            <a:br>
              <a:rPr lang="en-US" altLang="ko-KR" sz="1600" b="1">
                <a:solidFill>
                  <a:schemeClr val="tx1"/>
                </a:solidFill>
              </a:rPr>
            </a:br>
            <a:r>
              <a:rPr lang="en-US" altLang="ko-KR" sz="1200" b="1">
                <a:solidFill>
                  <a:schemeClr val="tx1"/>
                </a:solidFill>
              </a:rPr>
              <a:t>(</a:t>
            </a:r>
            <a:r>
              <a:rPr lang="ko-KR" altLang="en-US" sz="1200" b="1">
                <a:solidFill>
                  <a:schemeClr val="tx1"/>
                </a:solidFill>
              </a:rPr>
              <a:t>침해된 </a:t>
            </a:r>
            <a:r>
              <a:rPr lang="en-US" altLang="ko-KR" sz="1200" b="1">
                <a:solidFill>
                  <a:schemeClr val="tx1"/>
                </a:solidFill>
              </a:rPr>
              <a:t>Pod)</a:t>
            </a:r>
            <a:endParaRPr lang="ko-KR" altLang="en-US" sz="1600" b="1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64693C8-FD1E-9A21-24DF-E5820872931F}"/>
              </a:ext>
            </a:extLst>
          </p:cNvPr>
          <p:cNvCxnSpPr>
            <a:cxnSpLocks/>
          </p:cNvCxnSpPr>
          <p:nvPr/>
        </p:nvCxnSpPr>
        <p:spPr>
          <a:xfrm>
            <a:off x="1664188" y="3287429"/>
            <a:ext cx="2114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D1CE99E-F03F-2D09-CE5F-58B3904D9DF2}"/>
              </a:ext>
            </a:extLst>
          </p:cNvPr>
          <p:cNvSpPr txBox="1"/>
          <p:nvPr/>
        </p:nvSpPr>
        <p:spPr>
          <a:xfrm>
            <a:off x="1733378" y="2962540"/>
            <a:ext cx="1510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1. Initial Access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D0FCB42-56EB-6461-130A-7A803A443DFB}"/>
              </a:ext>
            </a:extLst>
          </p:cNvPr>
          <p:cNvCxnSpPr>
            <a:cxnSpLocks/>
          </p:cNvCxnSpPr>
          <p:nvPr/>
        </p:nvCxnSpPr>
        <p:spPr>
          <a:xfrm flipV="1">
            <a:off x="9994266" y="4136832"/>
            <a:ext cx="0" cy="576955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38A3571-D474-B858-CFDA-F43A768DF79D}"/>
              </a:ext>
            </a:extLst>
          </p:cNvPr>
          <p:cNvCxnSpPr>
            <a:cxnSpLocks/>
          </p:cNvCxnSpPr>
          <p:nvPr/>
        </p:nvCxnSpPr>
        <p:spPr>
          <a:xfrm>
            <a:off x="4839986" y="4702442"/>
            <a:ext cx="5168902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1700164-BB52-FD03-AF76-666B00CC3A47}"/>
              </a:ext>
            </a:extLst>
          </p:cNvPr>
          <p:cNvCxnSpPr>
            <a:cxnSpLocks/>
          </p:cNvCxnSpPr>
          <p:nvPr/>
        </p:nvCxnSpPr>
        <p:spPr>
          <a:xfrm flipV="1">
            <a:off x="4839986" y="4293879"/>
            <a:ext cx="0" cy="408563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C039214-956B-BC61-186D-BB6A847DC954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5888879" y="3075007"/>
            <a:ext cx="129151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69B91DE-C182-157E-4078-E1CC7F8D1737}"/>
              </a:ext>
            </a:extLst>
          </p:cNvPr>
          <p:cNvCxnSpPr>
            <a:cxnSpLocks/>
            <a:stCxn id="50" idx="3"/>
            <a:endCxn id="48" idx="1"/>
          </p:cNvCxnSpPr>
          <p:nvPr/>
        </p:nvCxnSpPr>
        <p:spPr>
          <a:xfrm flipV="1">
            <a:off x="5375897" y="3623734"/>
            <a:ext cx="1783132" cy="18139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80FC0A4-61BF-535E-1BDE-5B71E5504B5F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5888879" y="4167376"/>
            <a:ext cx="12701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95F8B5E-4AE0-E2CD-928A-03859829AC5C}"/>
              </a:ext>
            </a:extLst>
          </p:cNvPr>
          <p:cNvCxnSpPr>
            <a:cxnSpLocks/>
          </p:cNvCxnSpPr>
          <p:nvPr/>
        </p:nvCxnSpPr>
        <p:spPr>
          <a:xfrm flipH="1" flipV="1">
            <a:off x="4174492" y="4293879"/>
            <a:ext cx="7509" cy="408563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6197FA8-FD2D-98BD-73F1-E9AE06CD4C3F}"/>
              </a:ext>
            </a:extLst>
          </p:cNvPr>
          <p:cNvCxnSpPr>
            <a:cxnSpLocks/>
          </p:cNvCxnSpPr>
          <p:nvPr/>
        </p:nvCxnSpPr>
        <p:spPr>
          <a:xfrm flipH="1">
            <a:off x="1664186" y="4702442"/>
            <a:ext cx="2510306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B25B51A-F50E-F118-6498-454591750EB5}"/>
              </a:ext>
            </a:extLst>
          </p:cNvPr>
          <p:cNvSpPr txBox="1"/>
          <p:nvPr/>
        </p:nvSpPr>
        <p:spPr>
          <a:xfrm>
            <a:off x="5707025" y="2726493"/>
            <a:ext cx="1345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2. </a:t>
            </a:r>
            <a:r>
              <a:rPr lang="ko-KR" altLang="en-US" sz="1200" b="1">
                <a:solidFill>
                  <a:srgbClr val="FF0000"/>
                </a:solidFill>
              </a:rPr>
              <a:t>내부 </a:t>
            </a:r>
            <a:r>
              <a:rPr lang="en-US" altLang="ko-KR" sz="1200" b="1">
                <a:solidFill>
                  <a:srgbClr val="FF0000"/>
                </a:solidFill>
              </a:rPr>
              <a:t>API </a:t>
            </a:r>
            <a:r>
              <a:rPr lang="ko-KR" altLang="en-US" sz="1200" b="1">
                <a:solidFill>
                  <a:srgbClr val="FF0000"/>
                </a:solidFill>
              </a:rPr>
              <a:t>호출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2D3D4F-F482-B203-5E6F-78B7E550CACC}"/>
              </a:ext>
            </a:extLst>
          </p:cNvPr>
          <p:cNvSpPr txBox="1"/>
          <p:nvPr/>
        </p:nvSpPr>
        <p:spPr>
          <a:xfrm>
            <a:off x="6516811" y="4716093"/>
            <a:ext cx="2230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2. K8s API </a:t>
            </a:r>
            <a:r>
              <a:rPr lang="ko-KR" altLang="en-US" sz="1200" b="1">
                <a:solidFill>
                  <a:srgbClr val="FF0000"/>
                </a:solidFill>
              </a:rPr>
              <a:t>정찰 및 정보 탈취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7D4EBB-2F3B-C6E1-0899-A311C2000593}"/>
              </a:ext>
            </a:extLst>
          </p:cNvPr>
          <p:cNvSpPr txBox="1"/>
          <p:nvPr/>
        </p:nvSpPr>
        <p:spPr>
          <a:xfrm>
            <a:off x="1776537" y="4732554"/>
            <a:ext cx="1367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2. </a:t>
            </a:r>
            <a:r>
              <a:rPr lang="ko-KR" altLang="en-US" sz="1200" b="1">
                <a:solidFill>
                  <a:srgbClr val="FF0000"/>
                </a:solidFill>
              </a:rPr>
              <a:t>응답 </a:t>
            </a:r>
            <a:r>
              <a:rPr lang="en-US" altLang="ko-KR" sz="1200" b="1">
                <a:solidFill>
                  <a:srgbClr val="FF0000"/>
                </a:solidFill>
              </a:rPr>
              <a:t>XSS </a:t>
            </a:r>
            <a:r>
              <a:rPr lang="ko-KR" altLang="en-US" sz="1200" b="1">
                <a:solidFill>
                  <a:srgbClr val="FF0000"/>
                </a:solidFill>
              </a:rPr>
              <a:t>주입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CB8501-7CD1-6F06-E9E4-641862F8A686}"/>
              </a:ext>
            </a:extLst>
          </p:cNvPr>
          <p:cNvSpPr txBox="1"/>
          <p:nvPr/>
        </p:nvSpPr>
        <p:spPr>
          <a:xfrm>
            <a:off x="850808" y="50318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사용자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47E6B7-74CD-B740-D15C-B2F5935B27C4}"/>
              </a:ext>
            </a:extLst>
          </p:cNvPr>
          <p:cNvSpPr txBox="1"/>
          <p:nvPr/>
        </p:nvSpPr>
        <p:spPr>
          <a:xfrm>
            <a:off x="857288" y="365921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공격자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92E6086-963F-D139-65E2-FB7A967F5732}"/>
              </a:ext>
            </a:extLst>
          </p:cNvPr>
          <p:cNvCxnSpPr>
            <a:cxnSpLocks/>
          </p:cNvCxnSpPr>
          <p:nvPr/>
        </p:nvCxnSpPr>
        <p:spPr>
          <a:xfrm>
            <a:off x="5372045" y="3408406"/>
            <a:ext cx="500433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B5F370C-AE95-7456-77AE-91718B51B1B3}"/>
              </a:ext>
            </a:extLst>
          </p:cNvPr>
          <p:cNvCxnSpPr>
            <a:cxnSpLocks/>
          </p:cNvCxnSpPr>
          <p:nvPr/>
        </p:nvCxnSpPr>
        <p:spPr>
          <a:xfrm flipV="1">
            <a:off x="5872478" y="3075007"/>
            <a:ext cx="0" cy="333399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6E49C47-C69B-8235-0B95-218263539B96}"/>
              </a:ext>
            </a:extLst>
          </p:cNvPr>
          <p:cNvCxnSpPr>
            <a:cxnSpLocks/>
          </p:cNvCxnSpPr>
          <p:nvPr/>
        </p:nvCxnSpPr>
        <p:spPr>
          <a:xfrm flipV="1">
            <a:off x="5888879" y="3878323"/>
            <a:ext cx="0" cy="28905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D709CE0-0655-2BC2-6A5A-7FD5687D9430}"/>
              </a:ext>
            </a:extLst>
          </p:cNvPr>
          <p:cNvCxnSpPr>
            <a:cxnSpLocks/>
          </p:cNvCxnSpPr>
          <p:nvPr/>
        </p:nvCxnSpPr>
        <p:spPr>
          <a:xfrm>
            <a:off x="5388446" y="3886548"/>
            <a:ext cx="500433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그림 69">
            <a:extLst>
              <a:ext uri="{FF2B5EF4-FFF2-40B4-BE49-F238E27FC236}">
                <a16:creationId xmlns:a16="http://schemas.microsoft.com/office/drawing/2014/main" id="{3DD3B356-752D-E197-9BC9-98114814E6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343" y="3005768"/>
            <a:ext cx="391516" cy="391516"/>
          </a:xfrm>
          <a:prstGeom prst="rect">
            <a:avLst/>
          </a:prstGeom>
        </p:spPr>
      </p:pic>
      <p:pic>
        <p:nvPicPr>
          <p:cNvPr id="116" name="Picture 26" descr="pod.png">
            <a:extLst>
              <a:ext uri="{FF2B5EF4-FFF2-40B4-BE49-F238E27FC236}">
                <a16:creationId xmlns:a16="http://schemas.microsoft.com/office/drawing/2014/main" id="{E125EF78-52A6-2F07-6040-CC16FBBDEB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7504" y="2927956"/>
            <a:ext cx="256254" cy="256254"/>
          </a:xfrm>
          <a:prstGeom prst="rect">
            <a:avLst/>
          </a:prstGeom>
        </p:spPr>
      </p:pic>
      <p:pic>
        <p:nvPicPr>
          <p:cNvPr id="118" name="Picture 26" descr="pod.png">
            <a:extLst>
              <a:ext uri="{FF2B5EF4-FFF2-40B4-BE49-F238E27FC236}">
                <a16:creationId xmlns:a16="http://schemas.microsoft.com/office/drawing/2014/main" id="{4AE88A17-262F-EB26-1104-8F5D8472C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7638" y="3491487"/>
            <a:ext cx="256254" cy="256254"/>
          </a:xfrm>
          <a:prstGeom prst="rect">
            <a:avLst/>
          </a:prstGeom>
        </p:spPr>
      </p:pic>
      <p:pic>
        <p:nvPicPr>
          <p:cNvPr id="120" name="Picture 26" descr="pod.png">
            <a:extLst>
              <a:ext uri="{FF2B5EF4-FFF2-40B4-BE49-F238E27FC236}">
                <a16:creationId xmlns:a16="http://schemas.microsoft.com/office/drawing/2014/main" id="{0825D16D-5BD2-0F41-93CE-C58385E29A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8577" y="4040371"/>
            <a:ext cx="256254" cy="256254"/>
          </a:xfrm>
          <a:prstGeom prst="rect">
            <a:avLst/>
          </a:prstGeom>
        </p:spPr>
      </p:pic>
      <p:pic>
        <p:nvPicPr>
          <p:cNvPr id="122" name="Picture 26" descr="pod.png">
            <a:extLst>
              <a:ext uri="{FF2B5EF4-FFF2-40B4-BE49-F238E27FC236}">
                <a16:creationId xmlns:a16="http://schemas.microsoft.com/office/drawing/2014/main" id="{910C48DF-8E23-A0C1-A7EC-F92B7B9CE2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3268" y="3038417"/>
            <a:ext cx="318733" cy="318733"/>
          </a:xfrm>
          <a:prstGeom prst="rect">
            <a:avLst/>
          </a:prstGeom>
        </p:spPr>
      </p:pic>
      <p:sp>
        <p:nvSpPr>
          <p:cNvPr id="125" name="Rounded Rectangle 44">
            <a:extLst>
              <a:ext uri="{FF2B5EF4-FFF2-40B4-BE49-F238E27FC236}">
                <a16:creationId xmlns:a16="http://schemas.microsoft.com/office/drawing/2014/main" id="{8504752F-EFEA-AF8D-C24A-8E8BF79A85C3}"/>
              </a:ext>
            </a:extLst>
          </p:cNvPr>
          <p:cNvSpPr/>
          <p:nvPr/>
        </p:nvSpPr>
        <p:spPr>
          <a:xfrm>
            <a:off x="568656" y="5789094"/>
            <a:ext cx="11054687" cy="611970"/>
          </a:xfrm>
          <a:prstGeom prst="roundRect">
            <a:avLst>
              <a:gd name="adj" fmla="val 22984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US" sz="1400">
                <a:solidFill>
                  <a:srgbClr val="1A1A1A"/>
                </a:solidFill>
                <a:latin typeface="맑은 고딕"/>
                <a:ea typeface="맑은 고딕"/>
              </a:rPr>
              <a:t>P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od 하나만 탈취돼도 기본 탑재된 서비스계정(SA) 토큰으로 API 서버를 정찰하고 </a:t>
            </a:r>
            <a:r>
              <a:rPr sz="1400" b="1">
                <a:solidFill>
                  <a:srgbClr val="1A1A1A"/>
                </a:solidFill>
                <a:latin typeface="맑은 고딕"/>
                <a:ea typeface="맑은 고딕"/>
              </a:rPr>
              <a:t>다른 pod로 번</a:t>
            </a:r>
            <a:r>
              <a:rPr lang="ko-KR" altLang="en-US" sz="1400" b="1">
                <a:solidFill>
                  <a:srgbClr val="1A1A1A"/>
                </a:solidFill>
                <a:latin typeface="맑은 고딕"/>
                <a:ea typeface="맑은 고딕"/>
              </a:rPr>
              <a:t>지는 공격이 가능</a:t>
            </a:r>
            <a:endParaRPr sz="1400" b="1">
              <a:solidFill>
                <a:srgbClr val="1A1A1A"/>
              </a:solidFill>
              <a:latin typeface="맑은 고딕"/>
              <a:ea typeface="맑은 고딕"/>
            </a:endParaRP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클러스터 내부</a:t>
            </a:r>
            <a:r>
              <a:rPr lang="ko-KR" altLang="en-US" sz="1400" b="0">
                <a:solidFill>
                  <a:srgbClr val="1A1A1A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1400" b="0">
                <a:solidFill>
                  <a:srgbClr val="1A1A1A"/>
                </a:solidFill>
                <a:latin typeface="맑은 고딕"/>
                <a:ea typeface="맑은 고딕"/>
              </a:rPr>
              <a:t>Outbound 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</a:rPr>
              <a:t>East-West 트래픽</a:t>
            </a:r>
            <a:r>
              <a:rPr lang="en-US" sz="1400" b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b="0">
                <a:solidFill>
                  <a:srgbClr val="1A1A1A"/>
                </a:solidFill>
                <a:latin typeface="맑은 고딕"/>
                <a:ea typeface="맑은 고딕"/>
              </a:rPr>
              <a:t>중 </a:t>
            </a:r>
            <a:r>
              <a:rPr lang="en-US" altLang="ko-KR" sz="1400" b="1">
                <a:solidFill>
                  <a:srgbClr val="1A1A1A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AI(CNN + OCSVM)</a:t>
            </a:r>
            <a:r>
              <a:rPr lang="ko-KR" altLang="en-US" sz="1400" b="1">
                <a:solidFill>
                  <a:srgbClr val="1A1A1A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를 기반으로 이상 트래픽만 골라내는 것</a:t>
            </a:r>
            <a:r>
              <a:rPr lang="ko-KR" altLang="en-US" sz="1400">
                <a:solidFill>
                  <a:srgbClr val="1A1A1A"/>
                </a:solidFill>
                <a:latin typeface="맑은 고딕"/>
                <a:ea typeface="맑은 고딕"/>
              </a:rPr>
              <a:t>이 </a:t>
            </a:r>
            <a:r>
              <a:rPr lang="ko-KR" altLang="en-US" sz="1400" b="0">
                <a:solidFill>
                  <a:srgbClr val="1A1A1A"/>
                </a:solidFill>
                <a:latin typeface="맑은 고딕"/>
                <a:ea typeface="맑은 고딕"/>
              </a:rPr>
              <a:t>과제 목표</a:t>
            </a:r>
            <a:endParaRPr sz="1400" b="1">
              <a:solidFill>
                <a:srgbClr val="DC2626"/>
              </a:solidFill>
              <a:latin typeface="맑은 고딕"/>
              <a:ea typeface="맑은 고딕"/>
            </a:endParaRPr>
          </a:p>
        </p:txBody>
      </p:sp>
      <p:sp>
        <p:nvSpPr>
          <p:cNvPr id="202" name="Boundary Security Label"/>
          <p:cNvSpPr/>
          <p:nvPr/>
        </p:nvSpPr>
        <p:spPr>
          <a:xfrm>
            <a:off x="5744464" y="1653345"/>
            <a:ext cx="2926080" cy="263807"/>
          </a:xfrm>
          <a:prstGeom prst="roundRect">
            <a:avLst>
              <a:gd name="adj" fmla="val 50000"/>
            </a:avLst>
          </a:prstGeom>
          <a:solidFill>
            <a:srgbClr val="E6F5EC"/>
          </a:solidFill>
          <a:ln w="127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sz="1150" b="1" dirty="0">
                <a:solidFill>
                  <a:srgbClr val="00A651"/>
                </a:solidFill>
                <a:latin typeface="맑은 고딕"/>
                <a:ea typeface="맑은 고딕"/>
              </a:rPr>
              <a:t>경계 보안(방화벽): 외부 출입만 검사</a:t>
            </a:r>
          </a:p>
        </p:txBody>
      </p:sp>
      <p:sp>
        <p:nvSpPr>
          <p:cNvPr id="37" name="곱하기 기호 36">
            <a:extLst>
              <a:ext uri="{FF2B5EF4-FFF2-40B4-BE49-F238E27FC236}">
                <a16:creationId xmlns:a16="http://schemas.microsoft.com/office/drawing/2014/main" id="{1526DB52-922B-CFD5-7DC9-1ABE0D9014A4}"/>
              </a:ext>
            </a:extLst>
          </p:cNvPr>
          <p:cNvSpPr/>
          <p:nvPr/>
        </p:nvSpPr>
        <p:spPr>
          <a:xfrm>
            <a:off x="5527954" y="3277029"/>
            <a:ext cx="294636" cy="268818"/>
          </a:xfrm>
          <a:prstGeom prst="mathMultiply">
            <a:avLst>
              <a:gd name="adj1" fmla="val 15016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곱하기 기호 38">
            <a:extLst>
              <a:ext uri="{FF2B5EF4-FFF2-40B4-BE49-F238E27FC236}">
                <a16:creationId xmlns:a16="http://schemas.microsoft.com/office/drawing/2014/main" id="{196B39A7-A02C-860C-9E9F-C56315E7A13A}"/>
              </a:ext>
            </a:extLst>
          </p:cNvPr>
          <p:cNvSpPr/>
          <p:nvPr/>
        </p:nvSpPr>
        <p:spPr>
          <a:xfrm>
            <a:off x="5535544" y="3500455"/>
            <a:ext cx="294636" cy="268818"/>
          </a:xfrm>
          <a:prstGeom prst="mathMultiply">
            <a:avLst>
              <a:gd name="adj1" fmla="val 15016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곱하기 기호 40">
            <a:extLst>
              <a:ext uri="{FF2B5EF4-FFF2-40B4-BE49-F238E27FC236}">
                <a16:creationId xmlns:a16="http://schemas.microsoft.com/office/drawing/2014/main" id="{642C27A8-9A5F-50FF-F9DF-4BF5B717F8E7}"/>
              </a:ext>
            </a:extLst>
          </p:cNvPr>
          <p:cNvSpPr/>
          <p:nvPr/>
        </p:nvSpPr>
        <p:spPr>
          <a:xfrm>
            <a:off x="5527954" y="3738643"/>
            <a:ext cx="294636" cy="268818"/>
          </a:xfrm>
          <a:prstGeom prst="mathMultiply">
            <a:avLst>
              <a:gd name="adj1" fmla="val 16433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곱하기 기호 42">
            <a:extLst>
              <a:ext uri="{FF2B5EF4-FFF2-40B4-BE49-F238E27FC236}">
                <a16:creationId xmlns:a16="http://schemas.microsoft.com/office/drawing/2014/main" id="{4DEAF034-32ED-4FFD-F4FB-5AEA1F022059}"/>
              </a:ext>
            </a:extLst>
          </p:cNvPr>
          <p:cNvSpPr/>
          <p:nvPr/>
        </p:nvSpPr>
        <p:spPr>
          <a:xfrm>
            <a:off x="4694707" y="4338949"/>
            <a:ext cx="294636" cy="268818"/>
          </a:xfrm>
          <a:prstGeom prst="mathMultiply">
            <a:avLst>
              <a:gd name="adj1" fmla="val 17851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곱하기 기호 44">
            <a:extLst>
              <a:ext uri="{FF2B5EF4-FFF2-40B4-BE49-F238E27FC236}">
                <a16:creationId xmlns:a16="http://schemas.microsoft.com/office/drawing/2014/main" id="{249431DF-14C8-AE2D-373A-7E2412332CB4}"/>
              </a:ext>
            </a:extLst>
          </p:cNvPr>
          <p:cNvSpPr/>
          <p:nvPr/>
        </p:nvSpPr>
        <p:spPr>
          <a:xfrm>
            <a:off x="4027174" y="4338949"/>
            <a:ext cx="294636" cy="268818"/>
          </a:xfrm>
          <a:prstGeom prst="mathMultiply">
            <a:avLst>
              <a:gd name="adj1" fmla="val 15016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03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ACCA9-003F-0AB1-11A5-BD112049B95B}"/>
              </a:ext>
            </a:extLst>
          </p:cNvPr>
          <p:cNvSpPr txBox="1"/>
          <p:nvPr/>
        </p:nvSpPr>
        <p:spPr>
          <a:xfrm>
            <a:off x="537432" y="2691747"/>
            <a:ext cx="11117135" cy="1474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+mj-lt"/>
              </a:rPr>
              <a:t>Part 2</a:t>
            </a:r>
          </a:p>
          <a:p>
            <a:pPr algn="ctr">
              <a:lnSpc>
                <a:spcPct val="150000"/>
              </a:lnSpc>
            </a:pPr>
            <a:r>
              <a:rPr lang="ko-KR" altLang="en-US" sz="3200" b="1">
                <a:solidFill>
                  <a:schemeClr val="bg1"/>
                </a:solidFill>
                <a:latin typeface="+mj-lt"/>
              </a:rPr>
              <a:t>시스템 아키텍처</a:t>
            </a:r>
            <a:endParaRPr lang="en-US" altLang="ko-KR" sz="32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05F5C51D-9D4E-1910-5768-21FD94C2F2D7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E91085-7D1E-7A70-2B2F-FDFCDB4728F6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23D33D51-1C84-A310-F393-E33D69FB7B99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1F03D0-31B3-1E10-6A94-C8C04251002C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</a:t>
            </a:r>
            <a:r>
              <a:rPr lang="en-US" altLang="ko-KR" sz="1200" b="1" kern="0" spc="10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ARCHITECTURE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C59F32-0064-0A41-91DC-41256F7C332A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전체</a:t>
            </a:r>
            <a:r>
              <a:rPr lang="en-US" altLang="ko-KR" sz="2900" b="1">
                <a:latin typeface="+mj-lt"/>
              </a:rPr>
              <a:t> 파이프라인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2E12FA-973E-9E1B-1E8C-FBF28C47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731000" y="1498600"/>
            <a:ext cx="4889500" cy="81280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83400" y="1714500"/>
            <a:ext cx="381000" cy="3810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6000" y="1498600"/>
            <a:ext cx="1270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가로채기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0" y="1524000"/>
            <a:ext cx="28321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0" latinLnBrk="0"/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사이드카가 outbound 패킷을 출발지→</a:t>
            </a:r>
            <a:r>
              <a:rPr lang="en-US" sz="1300" b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목적지 세션 단위로 묶음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73900" y="2349500"/>
            <a:ext cx="0" cy="101600"/>
          </a:xfrm>
          <a:prstGeom prst="line">
            <a:avLst/>
          </a:prstGeom>
          <a:ln w="25400">
            <a:solidFill>
              <a:srgbClr val="005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31000" y="2489200"/>
            <a:ext cx="4889500" cy="81280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83400" y="2705100"/>
            <a:ext cx="381000" cy="3810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6000" y="2489200"/>
            <a:ext cx="1270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이미지화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6000" y="2514600"/>
            <a:ext cx="23241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0" latinLnBrk="0"/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패킷 5개 × 의미 특징 20개 </a:t>
            </a:r>
            <a:br>
              <a:rPr lang="en-US" sz="1300" b="0">
                <a:solidFill>
                  <a:srgbClr val="1A1A1A"/>
                </a:solidFill>
                <a:latin typeface="맑은 고딕"/>
                <a:ea typeface="맑은 고딕"/>
              </a:rPr>
            </a:b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→ 20×5 흑백 이미지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073900" y="3340100"/>
            <a:ext cx="0" cy="101600"/>
          </a:xfrm>
          <a:prstGeom prst="line">
            <a:avLst/>
          </a:prstGeom>
          <a:ln w="25400">
            <a:solidFill>
              <a:srgbClr val="005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6731000" y="3479800"/>
            <a:ext cx="4889500" cy="81280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6883400" y="3695700"/>
            <a:ext cx="381000" cy="3810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66000" y="3479800"/>
            <a:ext cx="1270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KD-CNN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36000" y="3505200"/>
            <a:ext cx="28321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0" latinLnBrk="0"/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경량 </a:t>
            </a:r>
            <a:r>
              <a:rPr lang="en-US" sz="1300" b="0">
                <a:solidFill>
                  <a:srgbClr val="1A1A1A"/>
                </a:solidFill>
                <a:latin typeface="맑은 고딕"/>
                <a:ea typeface="맑은 고딕"/>
              </a:rPr>
              <a:t>student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 모델이 이미지를 </a:t>
            </a:r>
            <a:endParaRPr lang="en-US" sz="1300" b="0">
              <a:solidFill>
                <a:srgbClr val="1A1A1A"/>
              </a:solidFill>
              <a:latin typeface="맑은 고딕"/>
              <a:ea typeface="맑은 고딕"/>
            </a:endParaRPr>
          </a:p>
          <a:p>
            <a:pPr algn="l" eaLnBrk="0" latinLnBrk="0"/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128차원 임베딩으로 변환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7073900" y="4330700"/>
            <a:ext cx="0" cy="101600"/>
          </a:xfrm>
          <a:prstGeom prst="line">
            <a:avLst/>
          </a:prstGeom>
          <a:ln w="25400">
            <a:solidFill>
              <a:srgbClr val="005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6731000" y="4470400"/>
            <a:ext cx="4889500" cy="81280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6883400" y="4686300"/>
            <a:ext cx="381000" cy="3810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66000" y="4470400"/>
            <a:ext cx="1270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OCSVM 판정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36000" y="4495800"/>
            <a:ext cx="28321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0" latinLnBrk="0"/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정상 임베딩의 경계 밖이면 </a:t>
            </a:r>
            <a:endParaRPr lang="en-US" sz="1300" b="0">
              <a:solidFill>
                <a:srgbClr val="1A1A1A"/>
              </a:solidFill>
              <a:latin typeface="맑은 고딕"/>
              <a:ea typeface="맑은 고딕"/>
            </a:endParaRPr>
          </a:p>
          <a:p>
            <a:pPr algn="l" eaLnBrk="0" latinLnBrk="0"/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이상으로 판정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7073900" y="5321300"/>
            <a:ext cx="0" cy="101600"/>
          </a:xfrm>
          <a:prstGeom prst="line">
            <a:avLst/>
          </a:prstGeom>
          <a:ln w="25400">
            <a:solidFill>
              <a:srgbClr val="005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6731000" y="5461000"/>
            <a:ext cx="4889500" cy="8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5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6883400" y="5676900"/>
            <a:ext cx="381000" cy="381000"/>
          </a:xfrm>
          <a:prstGeom prst="ellipse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66000" y="5461000"/>
            <a:ext cx="1270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A1A1A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636000" y="5486400"/>
            <a:ext cx="28321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0" latinLnBrk="0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정상 → </a:t>
            </a:r>
            <a:r>
              <a:rPr sz="1300" b="1">
                <a:solidFill>
                  <a:srgbClr val="00A651"/>
                </a:solidFill>
                <a:latin typeface="맑은 고딕"/>
                <a:ea typeface="맑은 고딕"/>
              </a:rPr>
              <a:t>FORWARD</a:t>
            </a:r>
          </a:p>
          <a:p>
            <a:pPr algn="l" eaLnBrk="0" latinLnBrk="0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요청 이상 → </a:t>
            </a:r>
            <a:r>
              <a:rPr sz="1300" b="1">
                <a:solidFill>
                  <a:srgbClr val="DC2626"/>
                </a:solidFill>
                <a:latin typeface="맑은 고딕"/>
                <a:ea typeface="맑은 고딕"/>
              </a:rPr>
              <a:t>DROP</a:t>
            </a:r>
          </a:p>
          <a:p>
            <a:pPr algn="l" eaLnBrk="0" latinLnBrk="0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응답 이상 → </a:t>
            </a:r>
            <a:r>
              <a:rPr sz="1300" b="1">
                <a:solidFill>
                  <a:srgbClr val="005BAA"/>
                </a:solidFill>
                <a:latin typeface="맑은 고딕"/>
                <a:ea typeface="맑은 고딕"/>
              </a:rPr>
              <a:t>RELAY</a:t>
            </a:r>
          </a:p>
        </p:txBody>
      </p:sp>
      <p:pic>
        <p:nvPicPr>
          <p:cNvPr id="190" name="그림 189">
            <a:extLst>
              <a:ext uri="{FF2B5EF4-FFF2-40B4-BE49-F238E27FC236}">
                <a16:creationId xmlns:a16="http://schemas.microsoft.com/office/drawing/2014/main" id="{E70CF25A-C257-16D5-2898-FFD7B3609C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53" y="1589532"/>
            <a:ext cx="5778500" cy="465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6" descr="pod.png">
            <a:extLst>
              <a:ext uri="{FF2B5EF4-FFF2-40B4-BE49-F238E27FC236}">
                <a16:creationId xmlns:a16="http://schemas.microsoft.com/office/drawing/2014/main" id="{6CAD450B-7E7A-FC2C-DB94-C4CCF8358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955" y="2272173"/>
            <a:ext cx="256254" cy="256254"/>
          </a:xfrm>
          <a:prstGeom prst="rect">
            <a:avLst/>
          </a:prstGeom>
        </p:spPr>
      </p:pic>
      <p:sp>
        <p:nvSpPr>
          <p:cNvPr id="13" name="Oval 17">
            <a:extLst>
              <a:ext uri="{FF2B5EF4-FFF2-40B4-BE49-F238E27FC236}">
                <a16:creationId xmlns:a16="http://schemas.microsoft.com/office/drawing/2014/main" id="{C653EBA3-652F-E71C-0CCD-B95470EB75F1}"/>
              </a:ext>
            </a:extLst>
          </p:cNvPr>
          <p:cNvSpPr/>
          <p:nvPr/>
        </p:nvSpPr>
        <p:spPr>
          <a:xfrm>
            <a:off x="4397375" y="4330700"/>
            <a:ext cx="161290" cy="1651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9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6" name="Oval 17">
            <a:extLst>
              <a:ext uri="{FF2B5EF4-FFF2-40B4-BE49-F238E27FC236}">
                <a16:creationId xmlns:a16="http://schemas.microsoft.com/office/drawing/2014/main" id="{E0A972AF-1008-6D45-5A4F-2A3E00AA52F6}"/>
              </a:ext>
            </a:extLst>
          </p:cNvPr>
          <p:cNvSpPr/>
          <p:nvPr/>
        </p:nvSpPr>
        <p:spPr>
          <a:xfrm>
            <a:off x="3923030" y="3886200"/>
            <a:ext cx="161290" cy="1651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sz="9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8" name="Oval 17">
            <a:extLst>
              <a:ext uri="{FF2B5EF4-FFF2-40B4-BE49-F238E27FC236}">
                <a16:creationId xmlns:a16="http://schemas.microsoft.com/office/drawing/2014/main" id="{7BCF0A29-B5F5-0216-16F2-67401A671321}"/>
              </a:ext>
            </a:extLst>
          </p:cNvPr>
          <p:cNvSpPr/>
          <p:nvPr/>
        </p:nvSpPr>
        <p:spPr>
          <a:xfrm>
            <a:off x="5193030" y="3872865"/>
            <a:ext cx="161290" cy="1651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9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0" name="Oval 17">
            <a:extLst>
              <a:ext uri="{FF2B5EF4-FFF2-40B4-BE49-F238E27FC236}">
                <a16:creationId xmlns:a16="http://schemas.microsoft.com/office/drawing/2014/main" id="{42280672-8CC6-30E3-5579-395B7806C725}"/>
              </a:ext>
            </a:extLst>
          </p:cNvPr>
          <p:cNvSpPr/>
          <p:nvPr/>
        </p:nvSpPr>
        <p:spPr>
          <a:xfrm>
            <a:off x="3046730" y="3707765"/>
            <a:ext cx="161290" cy="165100"/>
          </a:xfrm>
          <a:prstGeom prst="ellipse">
            <a:avLst/>
          </a:prstGeom>
          <a:solidFill>
            <a:srgbClr val="F14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sz="9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2" name="Oval 17">
            <a:extLst>
              <a:ext uri="{FF2B5EF4-FFF2-40B4-BE49-F238E27FC236}">
                <a16:creationId xmlns:a16="http://schemas.microsoft.com/office/drawing/2014/main" id="{53ED5DF1-1BFE-2EC8-23D5-9B8611D83620}"/>
              </a:ext>
            </a:extLst>
          </p:cNvPr>
          <p:cNvSpPr/>
          <p:nvPr/>
        </p:nvSpPr>
        <p:spPr>
          <a:xfrm>
            <a:off x="5193030" y="3003550"/>
            <a:ext cx="161290" cy="165100"/>
          </a:xfrm>
          <a:prstGeom prst="ellipse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9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pic>
        <p:nvPicPr>
          <p:cNvPr id="158" name="그래픽 157">
            <a:extLst>
              <a:ext uri="{FF2B5EF4-FFF2-40B4-BE49-F238E27FC236}">
                <a16:creationId xmlns:a16="http://schemas.microsoft.com/office/drawing/2014/main" id="{5E43089C-7846-E620-8299-67BF2E0A0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3612" y="3594101"/>
            <a:ext cx="482599" cy="48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88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D799-FD9A-0987-9F62-6A99027E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eck Box 15">
            <a:extLst>
              <a:ext uri="{FF2B5EF4-FFF2-40B4-BE49-F238E27FC236}">
                <a16:creationId xmlns:a16="http://schemas.microsoft.com/office/drawing/2014/main" id="{CED251DE-C75C-4826-8889-2BE905BA5879}"/>
              </a:ext>
            </a:extLst>
          </p:cNvPr>
          <p:cNvSpPr/>
          <p:nvPr/>
        </p:nvSpPr>
        <p:spPr>
          <a:xfrm>
            <a:off x="447041" y="4670713"/>
            <a:ext cx="5371413" cy="640080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lang="en-US" altLang="ko-KR" sz="1400">
                <a:solidFill>
                  <a:prstClr val="black"/>
                </a:solidFill>
                <a:latin typeface="맑은 고딕"/>
                <a:ea typeface="맑은 고딕"/>
              </a:rPr>
              <a:t>Outbound 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트래픽을 가로챈다</a:t>
            </a:r>
            <a:r>
              <a:rPr lang="en-US" altLang="ko-KR" sz="1400">
                <a:solidFill>
                  <a:prstClr val="black"/>
                </a:solidFill>
                <a:latin typeface="맑은 고딕"/>
                <a:ea typeface="맑은 고딕"/>
              </a:rPr>
              <a:t>.</a:t>
            </a:r>
          </a:p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연속된 </a:t>
            </a:r>
            <a:r>
              <a:rPr lang="ko-KR" altLang="en-US" sz="1400" b="1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패킷 </a:t>
            </a:r>
            <a:r>
              <a:rPr lang="en-US" altLang="ko-KR" sz="1400" b="1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5</a:t>
            </a:r>
            <a:r>
              <a:rPr lang="ko-KR" altLang="en-US" sz="1400" b="1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개를 쌓아 이미지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로 만듦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" name="Check Box 7">
            <a:extLst>
              <a:ext uri="{FF2B5EF4-FFF2-40B4-BE49-F238E27FC236}">
                <a16:creationId xmlns:a16="http://schemas.microsoft.com/office/drawing/2014/main" id="{D6B2DF3B-3218-4F95-B651-491CB0C2D4BE}"/>
              </a:ext>
            </a:extLst>
          </p:cNvPr>
          <p:cNvSpPr/>
          <p:nvPr/>
        </p:nvSpPr>
        <p:spPr>
          <a:xfrm>
            <a:off x="6322745" y="5591597"/>
            <a:ext cx="5509345" cy="709159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indent="-324000" algn="l"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 b="1">
                <a:highlight>
                  <a:srgbClr val="FFFF00"/>
                </a:highlight>
                <a:latin typeface="맑은 고딕"/>
                <a:ea typeface="맑은 고딕"/>
              </a:rPr>
              <a:t>정상 트래픽만으로</a:t>
            </a:r>
            <a:r>
              <a:rPr lang="ko-KR" altLang="en-US" sz="1400" b="1">
                <a:latin typeface="맑은 고딕"/>
                <a:ea typeface="맑은 고딕"/>
              </a:rPr>
              <a:t> </a:t>
            </a:r>
            <a:r>
              <a:rPr lang="en-US" altLang="ko-KR" sz="1400">
                <a:latin typeface="맑은 고딕"/>
                <a:ea typeface="맑은 고딕"/>
              </a:rPr>
              <a:t>Teacher </a:t>
            </a:r>
            <a:r>
              <a:rPr lang="ko-KR" altLang="en-US" sz="1400">
                <a:latin typeface="맑은 고딕"/>
                <a:ea typeface="맑은 고딕"/>
              </a:rPr>
              <a:t>모델을 </a:t>
            </a:r>
            <a:r>
              <a:rPr lang="ko-KR" altLang="en-US" sz="1400" b="1">
                <a:highlight>
                  <a:srgbClr val="FFFF00"/>
                </a:highlight>
                <a:latin typeface="맑은 고딕"/>
                <a:ea typeface="맑은 고딕"/>
              </a:rPr>
              <a:t>자기지도 대조학습</a:t>
            </a:r>
            <a:endParaRPr lang="en-US" altLang="ko-KR" sz="1400" b="1">
              <a:highlight>
                <a:srgbClr val="FFFF00"/>
              </a:highlight>
              <a:latin typeface="맑은 고딕"/>
              <a:ea typeface="맑은 고딕"/>
            </a:endParaRPr>
          </a:p>
          <a:p>
            <a:pPr marL="324000" indent="-324000" algn="l"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</a:pPr>
            <a:r>
              <a:rPr lang="ko-KR" altLang="en-US" sz="1400">
                <a:latin typeface="맑은 고딕"/>
                <a:ea typeface="맑은 고딕"/>
              </a:rPr>
              <a:t>이를 </a:t>
            </a:r>
            <a:r>
              <a:rPr lang="en-US" altLang="ko-KR" sz="1400">
                <a:latin typeface="맑은 고딕"/>
                <a:ea typeface="맑은 고딕"/>
              </a:rPr>
              <a:t>Student </a:t>
            </a:r>
            <a:r>
              <a:rPr lang="ko-KR" altLang="en-US" sz="1400">
                <a:latin typeface="맑은 고딕"/>
                <a:ea typeface="맑은 고딕"/>
              </a:rPr>
              <a:t>모델로 </a:t>
            </a:r>
            <a:r>
              <a:rPr lang="ko-KR" altLang="en-US" sz="1400" b="1">
                <a:highlight>
                  <a:srgbClr val="FFFF00"/>
                </a:highlight>
                <a:latin typeface="맑은 고딕"/>
                <a:ea typeface="맑은 고딕"/>
              </a:rPr>
              <a:t>지식 증류</a:t>
            </a:r>
            <a:r>
              <a:rPr lang="ko-KR" altLang="en-US" sz="1400">
                <a:latin typeface="맑은 고딕"/>
                <a:ea typeface="맑은 고딕"/>
              </a:rPr>
              <a:t>해 </a:t>
            </a:r>
            <a:r>
              <a:rPr lang="en-US" altLang="ko-KR" sz="1400">
                <a:latin typeface="맑은 고딕"/>
                <a:ea typeface="맑은 고딕"/>
              </a:rPr>
              <a:t>128</a:t>
            </a:r>
            <a:r>
              <a:rPr lang="ko-KR" altLang="en-US" sz="1400">
                <a:latin typeface="맑은 고딕"/>
                <a:ea typeface="맑은 고딕"/>
              </a:rPr>
              <a:t>차원 벡터로 임베딩</a:t>
            </a:r>
            <a:endParaRPr lang="en-US" altLang="ko-KR" sz="1400">
              <a:latin typeface="맑은 고딕"/>
              <a:ea typeface="맑은 고딕"/>
            </a:endParaRP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29247190-1E78-429F-2C15-E0E23A0B71D1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8D0832-B205-D7EB-B012-30431C54603B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9B594457-044E-75E6-DBC1-7D8E754161CC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B445C97-E5AD-0D48-90B2-2239B6A5E1DF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</a:t>
            </a:r>
            <a:r>
              <a:rPr lang="en-US" altLang="ko-KR" sz="1200" b="1" kern="0" spc="10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ARCHITECTURE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1A8954A6-CAEA-313B-D540-9212DB899EF0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사이드카 프록시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B0BFB7-AB1B-0195-6D35-9739A9E61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A11C31-5E29-F2DA-EC7D-45A2998292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39" y="2834164"/>
            <a:ext cx="5371415" cy="145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4BEE3B-313B-3F75-3C62-8C8A44EFE462}"/>
              </a:ext>
            </a:extLst>
          </p:cNvPr>
          <p:cNvSpPr txBox="1"/>
          <p:nvPr/>
        </p:nvSpPr>
        <p:spPr>
          <a:xfrm>
            <a:off x="409431" y="2142172"/>
            <a:ext cx="322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tabLst/>
              <a:defRPr/>
            </a:pPr>
            <a:r>
              <a:rPr kumimoji="0" lang="en-US" altLang="ko-KR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1. Traffic Converter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620B6F-6DD9-AB1E-9130-FC38C21EF829}"/>
              </a:ext>
            </a:extLst>
          </p:cNvPr>
          <p:cNvSpPr txBox="1"/>
          <p:nvPr/>
        </p:nvSpPr>
        <p:spPr>
          <a:xfrm>
            <a:off x="6262727" y="1365606"/>
            <a:ext cx="257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맑은 고딕"/>
                <a:ea typeface="맑은 고딕"/>
              </a:rPr>
              <a:t>2</a:t>
            </a:r>
            <a:r>
              <a:rPr kumimoji="0" lang="en-US" altLang="ko-KR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KD-CNN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1F278E6-A8B1-373A-CECE-101706BAB0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546" y="1797655"/>
            <a:ext cx="5131689" cy="363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5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5542E-FFCD-E67A-E48C-DFE545B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ck Box 9">
            <a:extLst>
              <a:ext uri="{FF2B5EF4-FFF2-40B4-BE49-F238E27FC236}">
                <a16:creationId xmlns:a16="http://schemas.microsoft.com/office/drawing/2014/main" id="{4411AB16-585C-4A79-9B6C-405263946E93}"/>
              </a:ext>
            </a:extLst>
          </p:cNvPr>
          <p:cNvSpPr/>
          <p:nvPr/>
        </p:nvSpPr>
        <p:spPr>
          <a:xfrm>
            <a:off x="817762" y="5856873"/>
            <a:ext cx="10414235" cy="516354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One-class SVM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을 이용해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/>
                <a:cs typeface="+mn-cs"/>
              </a:rPr>
              <a:t>정상 임베딩 경계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를 학습해 이상 판정</a:t>
            </a: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45106696-FCAB-7319-F3D7-34625374D54D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6C5635-942C-CD4D-52DE-EBF329651267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DA7EFDE7-0F68-0903-BEB6-C0DBBE1F95B9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D212050-F3A8-E295-108E-304C0163F365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</a:t>
            </a:r>
            <a:r>
              <a:rPr lang="en-US" altLang="ko-KR" sz="1200" b="1" kern="0" spc="10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ARCHITECTURE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55067EF-0207-F397-BCF8-84EAA6391B53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사이드카 프록시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6E56A4-7CB6-0CE1-9815-7E8958B9B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EA04BE-AA43-336D-28CB-B6F697EA5E34}"/>
              </a:ext>
            </a:extLst>
          </p:cNvPr>
          <p:cNvSpPr txBox="1"/>
          <p:nvPr/>
        </p:nvSpPr>
        <p:spPr>
          <a:xfrm>
            <a:off x="447040" y="1408382"/>
            <a:ext cx="3503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tabLst/>
              <a:defRPr/>
            </a:pPr>
            <a:r>
              <a:rPr kumimoji="0" lang="en-US" altLang="ko-KR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3. One-Class SVM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3ABEA8A-9F53-DF3E-0ADA-1A69C53C3B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266" y="1882002"/>
            <a:ext cx="4790559" cy="3870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3C26D75-307F-C3D6-162C-19AD2F72EC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03" y="1898246"/>
            <a:ext cx="4790557" cy="3870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690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B59FF-C28D-B00D-79B0-B7F06129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eck Box 7">
            <a:extLst>
              <a:ext uri="{FF2B5EF4-FFF2-40B4-BE49-F238E27FC236}">
                <a16:creationId xmlns:a16="http://schemas.microsoft.com/office/drawing/2014/main" id="{D8704E26-2820-427A-8C85-C276DACDD317}"/>
              </a:ext>
            </a:extLst>
          </p:cNvPr>
          <p:cNvSpPr/>
          <p:nvPr/>
        </p:nvSpPr>
        <p:spPr>
          <a:xfrm>
            <a:off x="516127" y="6026150"/>
            <a:ext cx="7440408" cy="516354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이상으로 판정된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Outbound Request</a:t>
            </a:r>
            <a:r>
              <a:rPr lang="ko-KR" altLang="en-US" sz="1600">
                <a:solidFill>
                  <a:prstClr val="black"/>
                </a:solidFill>
                <a:latin typeface="맑은 고딕"/>
                <a:ea typeface="맑은 고딕"/>
              </a:rPr>
              <a:t>는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차단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(DROP)</a:t>
            </a:r>
            <a:r>
              <a:rPr kumimoji="0" lang="ko-KR" altLang="en-US" sz="16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한다</a:t>
            </a:r>
            <a:r>
              <a:rPr kumimoji="0" lang="en-US" altLang="ko-KR" sz="16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.</a:t>
            </a:r>
            <a:endParaRPr lang="en-US" altLang="ko-KR" sz="1600">
              <a:latin typeface="맑은 고딕"/>
              <a:ea typeface="맑은 고딕"/>
            </a:endParaRP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22F6611D-9781-631D-0A02-989EEEDEF30C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8BD263-5B90-415F-4C69-0D84B212EE9A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0E922B01-96D8-36C5-15CB-5758E64030BA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AB6D1FD-F857-041C-5AB8-17BDC6830695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</a:t>
            </a:r>
            <a:r>
              <a:rPr lang="en-US" altLang="ko-KR" sz="1200" b="1" kern="0" spc="10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ARCHITECTURE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6C12E46-7FFF-93A9-423C-0600F04FC20F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이상 트래픽 처리 </a:t>
            </a:r>
            <a:r>
              <a:rPr lang="en-US" altLang="ko-KR" sz="2900" b="1">
                <a:latin typeface="+mj-lt"/>
              </a:rPr>
              <a:t>(Outbound Request)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CB2BB8-3E53-41E6-6C3A-EB3775FDC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DA40396-7CEC-84A2-59BB-4B4E2695E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10" y="1718540"/>
            <a:ext cx="7386225" cy="40060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0FA134A-B337-D9A5-9819-9C35620712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871" y="1530336"/>
            <a:ext cx="3082499" cy="5012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463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C9C2-EC2D-268A-D685-CDEDAFE4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eck Box 7">
            <a:extLst>
              <a:ext uri="{FF2B5EF4-FFF2-40B4-BE49-F238E27FC236}">
                <a16:creationId xmlns:a16="http://schemas.microsoft.com/office/drawing/2014/main" id="{10FD26B0-07E3-4D13-95CB-502AA977B33D}"/>
              </a:ext>
            </a:extLst>
          </p:cNvPr>
          <p:cNvSpPr/>
          <p:nvPr/>
        </p:nvSpPr>
        <p:spPr>
          <a:xfrm>
            <a:off x="516128" y="6026150"/>
            <a:ext cx="7445293" cy="516354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152400" tIns="45720" rIns="1524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변조된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Outbound Response</a:t>
            </a:r>
            <a:r>
              <a:rPr lang="ko-KR" altLang="en-US" sz="1600">
                <a:solidFill>
                  <a:prstClr val="black"/>
                </a:solidFill>
                <a:latin typeface="맑은 고딕"/>
                <a:ea typeface="맑은 고딕"/>
              </a:rPr>
              <a:t>는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정상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Pod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의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응답으로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대체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(RELAY)</a:t>
            </a:r>
            <a:r>
              <a:rPr kumimoji="0" lang="ko-KR" altLang="en-US" sz="16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한다</a:t>
            </a:r>
            <a:r>
              <a:rPr kumimoji="0" lang="en-US" altLang="ko-KR" sz="16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n-cs"/>
              </a:rPr>
              <a:t>.</a:t>
            </a: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F3CE40B-B646-0D2D-3087-2B39C31F4D0E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D5729F-E111-03F9-62A1-58A81EE597E3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B1373DBE-9AC7-3EF0-AA73-A2D1E760DB61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05514A0-5916-56E0-97A1-A0050C49A653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</a:t>
            </a:r>
            <a:r>
              <a:rPr lang="en-US" altLang="ko-KR" sz="1200" b="1" kern="0" spc="10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ARCHITECTURE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4DFACEE-A60C-C453-D84B-FB1F65C2577C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이상 트래픽 처리 </a:t>
            </a:r>
            <a:r>
              <a:rPr lang="en-US" altLang="ko-KR" sz="2900" b="1">
                <a:latin typeface="+mj-lt"/>
              </a:rPr>
              <a:t>(Outbound Response)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A6C415-2F46-222A-FF2D-8EBB919E1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8F2945-990C-D0A8-C7B6-D784AFE24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1777585"/>
            <a:ext cx="7343695" cy="398299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AA60090-0069-774F-47C4-29A24AFD8F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600" y="1559052"/>
            <a:ext cx="3110779" cy="5057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2113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7B4A-64CF-9ACD-D4D3-E0680C4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heck Box 25">
            <a:extLst>
              <a:ext uri="{FF2B5EF4-FFF2-40B4-BE49-F238E27FC236}">
                <a16:creationId xmlns:a16="http://schemas.microsoft.com/office/drawing/2014/main" id="{B0D24DE3-A2FA-430C-97AF-8E57B994BEB9}"/>
              </a:ext>
            </a:extLst>
          </p:cNvPr>
          <p:cNvSpPr/>
          <p:nvPr/>
        </p:nvSpPr>
        <p:spPr>
          <a:xfrm>
            <a:off x="6470386" y="5845337"/>
            <a:ext cx="5210457" cy="429639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76200" tIns="45720" rIns="381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세부 </a:t>
            </a: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탐지 로그 조회 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및 </a:t>
            </a:r>
            <a:r>
              <a:rPr lang="en-US" altLang="ko-KR" sz="1400" b="1">
                <a:solidFill>
                  <a:prstClr val="black"/>
                </a:solidFill>
                <a:latin typeface="맑은 고딕"/>
                <a:ea typeface="맑은 고딕"/>
              </a:rPr>
              <a:t>CSV </a:t>
            </a: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다운로드 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가능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6" name="Check Box 19">
            <a:extLst>
              <a:ext uri="{FF2B5EF4-FFF2-40B4-BE49-F238E27FC236}">
                <a16:creationId xmlns:a16="http://schemas.microsoft.com/office/drawing/2014/main" id="{0AC35B50-AB74-439D-96D4-053016C1D0ED}"/>
              </a:ext>
            </a:extLst>
          </p:cNvPr>
          <p:cNvSpPr/>
          <p:nvPr/>
        </p:nvSpPr>
        <p:spPr>
          <a:xfrm>
            <a:off x="553866" y="5845337"/>
            <a:ext cx="5167038" cy="765140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76200" tIns="45720" rIns="381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lang="ko-KR" altLang="en-US" sz="1400" b="1">
                <a:solidFill>
                  <a:prstClr val="black"/>
                </a:solidFill>
                <a:latin typeface="맑은 고딕"/>
                <a:ea typeface="맑은 고딕"/>
              </a:rPr>
              <a:t>토폴로지 그래프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로 직관적 실시간 모니터링 가능</a:t>
            </a:r>
            <a:endParaRPr lang="en-US" altLang="ko-KR" sz="1400"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이상탐지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추이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추론 지연시간을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시계열 그래프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로 파악</a:t>
            </a: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51B3B957-B375-F1D0-7EFF-1B6D935B1E18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BDB9B1-CB8F-5C60-7C9D-D356EDB79173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86FEF19B-04F4-1200-0758-1709AD789DD3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09A7EE74-BB85-1921-A269-2807A3D2D68F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</a:t>
            </a:r>
            <a:r>
              <a:rPr lang="en-US" altLang="ko-KR" sz="1200" b="1" kern="0" spc="10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ARCHITECTURE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79CC17B-DCE0-9F17-AB4A-A8923A6684A9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2900" b="1">
                <a:latin typeface="+mj-lt"/>
              </a:rPr>
              <a:t>관리자 대시보드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02A0D2-9DF5-22C4-67E8-9B9DB26F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964477F-50C0-67DF-6716-A31F07B2E0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31"/>
          <a:stretch>
            <a:fillRect/>
          </a:stretch>
        </p:blipFill>
        <p:spPr>
          <a:xfrm>
            <a:off x="640080" y="1888789"/>
            <a:ext cx="5080823" cy="375234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5BB0D5-AAC1-9BC3-D639-FE02670069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0179"/>
          <a:stretch>
            <a:fillRect/>
          </a:stretch>
        </p:blipFill>
        <p:spPr>
          <a:xfrm>
            <a:off x="6491107" y="1958340"/>
            <a:ext cx="5189736" cy="358603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7C8D30A-FE98-C799-5EA9-F410CC1784A4}"/>
              </a:ext>
            </a:extLst>
          </p:cNvPr>
          <p:cNvSpPr txBox="1"/>
          <p:nvPr/>
        </p:nvSpPr>
        <p:spPr>
          <a:xfrm>
            <a:off x="553865" y="1490143"/>
            <a:ext cx="3503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1.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대시보드 메인페이지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CF61CE-F476-1346-2D44-17BB973ECF89}"/>
              </a:ext>
            </a:extLst>
          </p:cNvPr>
          <p:cNvSpPr txBox="1"/>
          <p:nvPr/>
        </p:nvSpPr>
        <p:spPr>
          <a:xfrm>
            <a:off x="6383260" y="1550235"/>
            <a:ext cx="3503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/>
              </a:rPr>
              <a:t>2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/>
              </a:rPr>
              <a:t>로그 조회 페이지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943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ACCA9-003F-0AB1-11A5-BD112049B95B}"/>
              </a:ext>
            </a:extLst>
          </p:cNvPr>
          <p:cNvSpPr txBox="1"/>
          <p:nvPr/>
        </p:nvSpPr>
        <p:spPr>
          <a:xfrm>
            <a:off x="537432" y="2691747"/>
            <a:ext cx="11117135" cy="1474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+mj-lt"/>
              </a:rPr>
              <a:t>Part 3</a:t>
            </a:r>
          </a:p>
          <a:p>
            <a:pPr algn="ctr">
              <a:lnSpc>
                <a:spcPct val="150000"/>
              </a:lnSpc>
            </a:pPr>
            <a:r>
              <a:rPr lang="ko-KR" altLang="en-US" sz="3200" b="1">
                <a:solidFill>
                  <a:schemeClr val="bg1"/>
                </a:solidFill>
                <a:latin typeface="+mj-lt"/>
              </a:rPr>
              <a:t>성능 평가 및 시연</a:t>
            </a:r>
            <a:endParaRPr lang="en-US" altLang="ko-KR" sz="32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heck Box 13">
            <a:extLst>
              <a:ext uri="{FF2B5EF4-FFF2-40B4-BE49-F238E27FC236}">
                <a16:creationId xmlns:a16="http://schemas.microsoft.com/office/drawing/2014/main" id="{8D3F1875-1595-4E1F-9C04-69BE8D0BBF88}"/>
              </a:ext>
            </a:extLst>
          </p:cNvPr>
          <p:cNvSpPr/>
          <p:nvPr/>
        </p:nvSpPr>
        <p:spPr>
          <a:xfrm>
            <a:off x="6480809" y="5795009"/>
            <a:ext cx="5242206" cy="640081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76200" tIns="45720" rIns="381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Latency: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0.36~1.13 </a:t>
            </a:r>
            <a:r>
              <a:rPr lang="en-US" altLang="ko-KR" sz="1400">
                <a:solidFill>
                  <a:prstClr val="black"/>
                </a:solidFill>
                <a:latin typeface="맑은 고딕"/>
                <a:ea typeface="맑은 고딕"/>
              </a:rPr>
              <a:t>ms 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달성 </a:t>
            </a:r>
            <a:r>
              <a:rPr lang="en-US" altLang="ko-KR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(CPU </a:t>
            </a:r>
            <a:r>
              <a:rPr lang="ko-KR" altLang="en-US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추론</a:t>
            </a:r>
            <a:r>
              <a:rPr lang="en-US" altLang="ko-KR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)</a:t>
            </a:r>
          </a:p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지식 증류로 </a:t>
            </a:r>
            <a:r>
              <a:rPr lang="en-US" altLang="ko-KR" sz="1400">
                <a:solidFill>
                  <a:prstClr val="black"/>
                </a:solidFill>
                <a:latin typeface="맑은 고딕"/>
                <a:ea typeface="맑은 고딕"/>
              </a:rPr>
              <a:t>CNN 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모델 </a:t>
            </a:r>
            <a:r>
              <a:rPr lang="en-US" altLang="ko-KR" sz="1400">
                <a:solidFill>
                  <a:prstClr val="black"/>
                </a:solidFill>
                <a:latin typeface="맑은 고딕"/>
                <a:ea typeface="맑은 고딕"/>
              </a:rPr>
              <a:t>Latency </a:t>
            </a: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감소</a:t>
            </a:r>
            <a:endParaRPr lang="en-US" altLang="ko-KR" sz="140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26" name="Check Box 8">
            <a:extLst>
              <a:ext uri="{FF2B5EF4-FFF2-40B4-BE49-F238E27FC236}">
                <a16:creationId xmlns:a16="http://schemas.microsoft.com/office/drawing/2014/main" id="{BC0EE011-8090-4610-919A-3DA09C2E5BBF}"/>
              </a:ext>
            </a:extLst>
          </p:cNvPr>
          <p:cNvSpPr/>
          <p:nvPr/>
        </p:nvSpPr>
        <p:spPr>
          <a:xfrm>
            <a:off x="580438" y="5797296"/>
            <a:ext cx="5417724" cy="640080"/>
          </a:xfrm>
          <a:prstGeom prst="roundRect">
            <a:avLst/>
          </a:prstGeom>
          <a:solidFill>
            <a:srgbClr val="E2EAF3"/>
          </a:solidFill>
          <a:ln w="19050" cap="flat" cmpd="sng" algn="ctr">
            <a:noFill/>
            <a:prstDash val="solid"/>
            <a:miter lim="800000"/>
          </a:ln>
        </p:spPr>
        <p:txBody>
          <a:bodyPr wrap="square" lIns="76200" tIns="45720" rIns="38100" bIns="45720" rtlCol="0" anchor="ctr">
            <a:noAutofit/>
          </a:bodyPr>
          <a:lstStyle/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Recall: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86.7~100%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달성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324000" marR="0" lvl="0" indent="-324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buFont typeface="Wingdings" pitchFamily="2" charset="2"/>
              <a:buChar char="ü"/>
              <a:tabLst/>
              <a:defRPr/>
            </a:pPr>
            <a:r>
              <a:rPr lang="ko-KR" altLang="en-US" sz="1400">
                <a:solidFill>
                  <a:prstClr val="black"/>
                </a:solidFill>
                <a:latin typeface="맑은 고딕"/>
                <a:ea typeface="맑은 고딕"/>
              </a:rPr>
              <a:t>트래픽 원본보다 의미 기반 이미지에서 </a:t>
            </a:r>
            <a:r>
              <a:rPr lang="ko-KR" altLang="en-US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미탐</a:t>
            </a:r>
            <a:r>
              <a:rPr lang="en-US" altLang="ko-KR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(FN)</a:t>
            </a:r>
            <a:r>
              <a:rPr lang="ko-KR" altLang="en-US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이 적다</a:t>
            </a:r>
            <a:r>
              <a:rPr lang="en-US" altLang="ko-KR" sz="1400">
                <a:solidFill>
                  <a:prstClr val="black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.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05F5C51D-9D4E-1910-5768-21FD94C2F2D7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E91085-7D1E-7A70-2B2F-FDFCDB4728F6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23D33D51-1C84-A310-F393-E33D69FB7B99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1F03D0-31B3-1E10-6A94-C8C04251002C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RESULT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C59F32-0064-0A41-91DC-41256F7C332A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2900" b="1" dirty="0">
                <a:latin typeface="+mj-lt"/>
              </a:rPr>
              <a:t>성능 </a:t>
            </a:r>
            <a:r>
              <a:rPr lang="en-US" altLang="ko-KR" sz="2900" b="1">
                <a:latin typeface="+mj-lt"/>
              </a:rPr>
              <a:t>평가 - </a:t>
            </a:r>
            <a:r>
              <a:rPr lang="en-US" altLang="ko-KR" sz="2900" b="1" dirty="0">
                <a:latin typeface="+mj-lt"/>
              </a:rPr>
              <a:t>정확하고, 가볍고, 빠르다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2E12FA-973E-9E1B-1E8C-FBF28C47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9843B57-35A4-155F-262B-8B3E874303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" y="2002959"/>
            <a:ext cx="5431234" cy="361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5360A19-8942-6FDD-9A50-393259EE6B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781" y="2002959"/>
            <a:ext cx="5431234" cy="359368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540B5E-0EF2-1EEB-EF05-9359BE3484B8}"/>
              </a:ext>
            </a:extLst>
          </p:cNvPr>
          <p:cNvSpPr txBox="1"/>
          <p:nvPr/>
        </p:nvSpPr>
        <p:spPr>
          <a:xfrm>
            <a:off x="566928" y="1571397"/>
            <a:ext cx="3503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1. Recall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74D1D-4376-2747-974B-33E7AC4AD6BB}"/>
              </a:ext>
            </a:extLst>
          </p:cNvPr>
          <p:cNvSpPr txBox="1"/>
          <p:nvPr/>
        </p:nvSpPr>
        <p:spPr>
          <a:xfrm>
            <a:off x="6291781" y="1571397"/>
            <a:ext cx="3503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53862"/>
              </a:buClr>
              <a:buSzPct val="100000"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/>
              </a:rPr>
              <a:t>2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Latency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854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05F5C51D-9D4E-1910-5768-21FD94C2F2D7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E91085-7D1E-7A70-2B2F-FDFCDB4728F6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23D33D51-1C84-A310-F393-E33D69FB7B99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1F03D0-31B3-1E10-6A94-C8C04251002C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DEMO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C59F32-0064-0A41-91DC-41256F7C332A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2900" b="1" dirty="0">
                <a:latin typeface="+mj-lt"/>
              </a:rPr>
              <a:t>공격 </a:t>
            </a:r>
            <a:r>
              <a:rPr lang="en-US" altLang="ko-KR" sz="2900" b="1">
                <a:latin typeface="+mj-lt"/>
              </a:rPr>
              <a:t>시연 - </a:t>
            </a:r>
            <a:r>
              <a:rPr lang="en-US" altLang="ko-KR" sz="2900" b="1" dirty="0">
                <a:latin typeface="+mj-lt"/>
              </a:rPr>
              <a:t>사이드카 OFF vs ON</a:t>
            </a:r>
            <a:endParaRPr lang="en-US" altLang="ko-KR" sz="29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2E12FA-973E-9E1B-1E8C-FBF28C47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6928" y="1737651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시나리오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6" y="2218974"/>
            <a:ext cx="5440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맑은 고딕"/>
                <a:ea typeface="맑은 고딕"/>
              </a:rPr>
              <a:t>탈취한 auth pod → 쿠버네티스 API 정찰</a:t>
            </a:r>
            <a:r>
              <a:rPr lang="en-US" sz="1550" b="1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endParaRPr sz="1550" b="1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pic>
        <p:nvPicPr>
          <p:cNvPr id="19" name="Picture 18" descr="k1-off-repor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670339"/>
            <a:ext cx="3017520" cy="254678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9348" y="3515244"/>
            <a:ext cx="1146657" cy="90525"/>
          </a:xfrm>
          <a:prstGeom prst="rect">
            <a:avLst/>
          </a:prstGeom>
          <a:noFill/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1068" y="3871311"/>
            <a:ext cx="1554022" cy="881115"/>
          </a:xfrm>
          <a:prstGeom prst="rect">
            <a:avLst/>
          </a:prstGeom>
          <a:noFill/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271989"/>
            <a:ext cx="3017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맑은 고딕"/>
                <a:ea typeface="맑은 고딕"/>
              </a:rPr>
              <a:t>사이드카 OFF 시 정찰 결과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2670339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맑은 고딕"/>
                <a:ea typeface="맑은 고딕"/>
              </a:rPr>
              <a:t>사이드카 OFF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API 서버가 200으로 응답 → 클러스터 버전·정보 노출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21608" y="3996219"/>
            <a:ext cx="2286000" cy="1225296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 w="127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A651"/>
                </a:solidFill>
                <a:latin typeface="맑은 고딕"/>
                <a:ea typeface="맑은 고딕"/>
              </a:rPr>
              <a:t>사이드카 ON → </a:t>
            </a:r>
            <a:r>
              <a:rPr sz="1250" b="1">
                <a:solidFill>
                  <a:srgbClr val="FF0000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DROP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처음 보는 방향(API 서버)으로 나가는 요청을 이상 판정, 연결 전에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737651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시나리오 2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4394" y="2198148"/>
            <a:ext cx="5440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맑은 고딕"/>
                <a:ea typeface="맑은 고딕"/>
              </a:rPr>
              <a:t>frontend 응답에 XSS 스크립트 주입</a:t>
            </a:r>
            <a:r>
              <a:rPr lang="en-US" sz="1550" b="1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endParaRPr sz="1550" b="1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pic>
        <p:nvPicPr>
          <p:cNvPr id="27" name="Picture 26" descr="r1_html_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2670339"/>
            <a:ext cx="3017520" cy="24301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90488" y="51553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675"/>
                </a:solidFill>
                <a:latin typeface="맑은 고딕"/>
                <a:ea typeface="맑은 고딕"/>
              </a:rPr>
              <a:t>위: 변조 응답(OFF) · 아래: 교체된 정상 응답(ON)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5167" y="2670339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맑은 고딕"/>
                <a:ea typeface="맑은 고딕"/>
              </a:rPr>
              <a:t>사이드카 OFF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변조 응답이 그대로 전달 → 브라우저에서 스크립트 실행, attacker.test로 요청 발생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45167" y="3996219"/>
            <a:ext cx="2286000" cy="1225296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 w="127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A651"/>
                </a:solidFill>
                <a:latin typeface="맑은 고딕"/>
                <a:ea typeface="맑은 고딕"/>
              </a:rPr>
              <a:t>사이드카 ON → </a:t>
            </a:r>
            <a:r>
              <a:rPr sz="1250" b="1">
                <a:solidFill>
                  <a:schemeClr val="accent1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RELAY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</a:rPr>
              <a:t>형제 replica에 같은 요청을 보내 응답을 비교 → 정상 응답으로 교체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6" y="5751938"/>
            <a:ext cx="11064240" cy="618763"/>
          </a:xfrm>
          <a:prstGeom prst="roundRect">
            <a:avLst>
              <a:gd name="adj" fmla="val 12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실제 쿠버네티스 클러스터(VM 4대)와 자체 게시판에서 재현 </a:t>
            </a:r>
            <a:r>
              <a:rPr lang="ko-KR" altLang="en-US" sz="1350" b="0">
                <a:solidFill>
                  <a:srgbClr val="1A1A1A"/>
                </a:solidFill>
                <a:latin typeface="맑은 고딕"/>
                <a:ea typeface="맑은 고딕"/>
              </a:rPr>
              <a:t>및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</a:rPr>
              <a:t> 관리자 대시보드로 탐지 결과를 실시간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D5EF5C74-C5B8-8C03-AFBD-DF7C9BF186CB}"/>
              </a:ext>
            </a:extLst>
          </p:cNvPr>
          <p:cNvSpPr/>
          <p:nvPr/>
        </p:nvSpPr>
        <p:spPr>
          <a:xfrm flipH="1" flipV="1">
            <a:off x="10668000" y="-6"/>
            <a:ext cx="1523992" cy="167646"/>
          </a:xfrm>
          <a:prstGeom prst="snip1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91D32C-0F63-D58D-BFED-EFAE6EDDF5AD}"/>
              </a:ext>
            </a:extLst>
          </p:cNvPr>
          <p:cNvSpPr/>
          <p:nvPr/>
        </p:nvSpPr>
        <p:spPr>
          <a:xfrm>
            <a:off x="0" y="1"/>
            <a:ext cx="12192000" cy="8779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4C5B9739-3C32-481A-68DE-EA0220CC2743}"/>
              </a:ext>
            </a:extLst>
          </p:cNvPr>
          <p:cNvSpPr/>
          <p:nvPr/>
        </p:nvSpPr>
        <p:spPr>
          <a:xfrm>
            <a:off x="566928" y="420624"/>
            <a:ext cx="146304" cy="146304"/>
          </a:xfrm>
          <a:prstGeom prst="rect">
            <a:avLst/>
          </a:prstGeom>
          <a:solidFill>
            <a:srgbClr val="F147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AA03CFF-AE3E-6032-6B7C-EEFF2C0BD308}"/>
              </a:ext>
            </a:extLst>
          </p:cNvPr>
          <p:cNvSpPr/>
          <p:nvPr/>
        </p:nvSpPr>
        <p:spPr>
          <a:xfrm>
            <a:off x="804672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100" dirty="0">
                <a:solidFill>
                  <a:srgbClr val="005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altLang="ko-KR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BEC0DA2-9B3B-17BE-ACC5-4F70D7F678EF}"/>
              </a:ext>
            </a:extLst>
          </p:cNvPr>
          <p:cNvSpPr/>
          <p:nvPr/>
        </p:nvSpPr>
        <p:spPr>
          <a:xfrm>
            <a:off x="447040" y="742950"/>
            <a:ext cx="112763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/>
              <a:t>Q&amp;A</a:t>
            </a:r>
            <a:endParaRPr lang="en-US" sz="2900" b="1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6EF5544-0202-0BD0-9046-3D219150C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137" y="2386820"/>
            <a:ext cx="2644135" cy="259550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A69A7EB-52E8-2416-C935-001DB181D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10" y="6450551"/>
            <a:ext cx="1270000" cy="3198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 [1789288089289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AA"/>
      </a:accent1>
      <a:accent2>
        <a:srgbClr val="00A651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478A"/>
      </a:hlink>
      <a:folHlink>
        <a:srgbClr val="007F3E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6E2CD1-DED5-4152-BB19-B16073ED16FA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46500f9f-4941-4549-b6ef-8aaf1312a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9210</TotalTime>
  <Words>778</Words>
  <Application>Microsoft Office PowerPoint</Application>
  <PresentationFormat>와이드스크린</PresentationFormat>
  <Paragraphs>150</Paragraphs>
  <Slides>17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Arial</vt:lpstr>
      <vt:lpstr>Wingdings</vt:lpstr>
      <vt:lpstr>맑은 고딕</vt:lpstr>
      <vt:lpstr>Office 테마 [1789288089289]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bwkim</dc:creator>
  <cp:lastModifiedBy>SHINUICHEOL</cp:lastModifiedBy>
  <cp:revision>447</cp:revision>
  <dcterms:created xsi:type="dcterms:W3CDTF">2026-07-10T00:02:21Z</dcterms:created>
  <dcterms:modified xsi:type="dcterms:W3CDTF">2026-09-29T13:28:04Z</dcterms:modified>
</cp:coreProperties>
</file>